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intake system. The aim: remove as much of the manual work as possible between an e-mail arriving and a case being ready for EVA. Built on top of the document mapper concept, now running automatically on a cloud server rather than an app you drag files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 in the office is 'how many did we send over today?' — currently nobody can answer it without counting by hand. Prior to getting the images we have no internal identifier for cases, which makes organising things a lot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e-mail comes in, a webhook notifies an Azure Function called the orchestrator. It obtains the e-mail, attempts a provider match on the address and attachments, classifies the e-mail by type, and for existing providers' instructions it creates the case automatically. All classification and extraction is deterministic first — zero AI usage — falling back to AI suggestions only when confidence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basic stats and an overview of the work that's waiting, and what's been sent. Answers the daily admin question of 'how many did we send over today?' without anyone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view of all three inboxes with filters and search. Work flows to cases; queries and everything else are dismissed or actioned. Sent e-mails on cases are also logged and viewable here via a notification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the current process, the Case/PO number is minted at initial intake. It also checks for any active 'image only' cases with a matching registration and merges them into the instructions case when found — and vice versa. If no reg can be read from content, OCR/vision reads it off the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 move through Not ready, Review and Held queues. Statuses like 'Missing images' or 'Missing fields' are set automatically, and the Outstanding column tells staff exactly what to do next. Anyone can add notes to a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routes are planned — including full Tractable or Raven integration. When a client uses Tractable it e-mails us the PDF as well as updating the portal, and that e-mail style is already mapped, so the images extract immediately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more advanced version of the copy-and-paste chaser on the jobsheet: pressing the button creates a fileshare link for the case's Box folder and copies a chase template. A Box webhook updates the case in the app the moment images are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e-mail related to the case is attached — including 'pre-instruction' e-mails like triage or 'when the instructions come in on this one, do xyz'. Linking matches registration, client name and the provider's reference; chains are followed even when a message carries no identifiable details. Sent e-mails are logged too — the user can see everything that's ever been said about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model flags images showing a reflection, identifies good overviews with a registration, and highlights damage images. If instructions don't provide mileage but a photo shows the odometer, it reads it — cross-checked against a DVSA estimated mileage so a misread first digit can't slip through, and still reviewed by a person. With no odometer and nothing in the instructions, the DVSA lookup is used as the third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doesn't stop at EVA submission — the system watches for the report being sent and links it to the case. A separate function retroactively creates cases by examining Outlook and Box, so queries about old jobs still resolve to a real case. Behind it all sits a database of work providers (domains, intermediaries, repairers, provider-specific processes) and every inspection address used more than a handful of times in the last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status: the intake pipeline is live on info@, engineers@ and desk@. Offer a live walkthrough of the app as the natural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A27"/>
        </a:solidFill>
      </p:bgPr>
    </p:bg>
    <p:spTree>
      <p:nvGrpSpPr>
        <p:cNvPr id="1" name=""/>
        <p:cNvGrpSpPr/>
        <p:nvPr/>
      </p:nvGrpSpPr>
      <p:grpSpPr>
        <a:xfrm>
          <a:off x="0" y="0"/>
          <a:ext cx="0" cy="0"/>
          <a:chOff x="0" y="0"/>
          <a:chExt cx="0" cy="0"/>
        </a:xfrm>
      </p:grpSpPr>
      <p:pic>
        <p:nvPicPr>
          <p:cNvPr id="2" name="Image 0" descr="deck_assets/logo_white.png">    </p:cNvPr>
          <p:cNvPicPr>
            <a:picLocks noChangeAspect="1"/>
          </p:cNvPicPr>
          <p:nvPr/>
        </p:nvPicPr>
        <p:blipFill>
          <a:blip r:embed="rId1"/>
          <a:stretch>
            <a:fillRect/>
          </a:stretch>
        </p:blipFill>
        <p:spPr>
          <a:xfrm>
            <a:off x="548640" y="502920"/>
            <a:ext cx="1737360" cy="969264"/>
          </a:xfrm>
          <a:prstGeom prst="rect">
            <a:avLst/>
          </a:prstGeom>
        </p:spPr>
      </p:pic>
      <p:sp>
        <p:nvSpPr>
          <p:cNvPr id="3" name="Text 0"/>
          <p:cNvSpPr/>
          <p:nvPr/>
        </p:nvSpPr>
        <p:spPr>
          <a:xfrm>
            <a:off x="548640" y="2606040"/>
            <a:ext cx="11064240" cy="1051560"/>
          </a:xfrm>
          <a:prstGeom prst="rect">
            <a:avLst/>
          </a:prstGeom>
          <a:noFill/>
          <a:ln/>
        </p:spPr>
        <p:txBody>
          <a:bodyPr wrap="square" lIns="0" tIns="0" rIns="0" bIns="0" rtlCol="0" anchor="ctr"/>
          <a:lstStyle/>
          <a:p>
            <a:pPr indent="0" marL="0">
              <a:buNone/>
            </a:pPr>
            <a:r>
              <a:rPr lang="en-US" sz="6000" b="1" spc="200" kern="0" dirty="0">
                <a:solidFill>
                  <a:srgbClr val="FFFFFF"/>
                </a:solidFill>
                <a:latin typeface="Tw Cen MT" pitchFamily="34" charset="0"/>
                <a:ea typeface="Tw Cen MT" pitchFamily="34" charset="-122"/>
                <a:cs typeface="Tw Cen MT" pitchFamily="34" charset="-120"/>
              </a:rPr>
              <a:t>CASE INTAKE</a:t>
            </a:r>
            <a:endParaRPr lang="en-US" sz="6000" dirty="0"/>
          </a:p>
        </p:txBody>
      </p:sp>
      <p:sp>
        <p:nvSpPr>
          <p:cNvPr id="4" name="Text 1"/>
          <p:cNvSpPr/>
          <p:nvPr/>
        </p:nvSpPr>
        <p:spPr>
          <a:xfrm>
            <a:off x="566928" y="3703320"/>
            <a:ext cx="10515600" cy="502920"/>
          </a:xfrm>
          <a:prstGeom prst="rect">
            <a:avLst/>
          </a:prstGeom>
          <a:noFill/>
          <a:ln/>
        </p:spPr>
        <p:txBody>
          <a:bodyPr wrap="square" lIns="0" tIns="0" rIns="0" bIns="0" rtlCol="0" anchor="ctr"/>
          <a:lstStyle/>
          <a:p>
            <a:pPr indent="0" marL="0">
              <a:buNone/>
            </a:pPr>
            <a:r>
              <a:rPr lang="en-US" sz="1900" dirty="0">
                <a:solidFill>
                  <a:srgbClr val="D9D7D4"/>
                </a:solidFill>
                <a:latin typeface="Arial" pitchFamily="34" charset="0"/>
                <a:ea typeface="Arial" pitchFamily="34" charset="-122"/>
                <a:cs typeface="Arial" pitchFamily="34" charset="-120"/>
              </a:rPr>
              <a:t>Automated e-mail intake, case creation and evidence handling</a:t>
            </a:r>
            <a:endParaRPr lang="en-US" sz="1900" dirty="0"/>
          </a:p>
        </p:txBody>
      </p:sp>
      <p:sp>
        <p:nvSpPr>
          <p:cNvPr id="5" name="Text 2"/>
          <p:cNvSpPr/>
          <p:nvPr/>
        </p:nvSpPr>
        <p:spPr>
          <a:xfrm>
            <a:off x="566928" y="6172200"/>
            <a:ext cx="7315200" cy="320040"/>
          </a:xfrm>
          <a:prstGeom prst="rect">
            <a:avLst/>
          </a:prstGeom>
          <a:noFill/>
          <a:ln/>
        </p:spPr>
        <p:txBody>
          <a:bodyPr wrap="square" lIns="0" tIns="0" rIns="0" bIns="0" rtlCol="0" anchor="ctr"/>
          <a:lstStyle/>
          <a:p>
            <a:pPr indent="0" marL="0">
              <a:buNone/>
            </a:pPr>
            <a:r>
              <a:rPr lang="en-US" sz="1200" dirty="0">
                <a:solidFill>
                  <a:srgbClr val="9C9A96"/>
                </a:solidFill>
                <a:latin typeface="Arial" pitchFamily="34" charset="0"/>
                <a:ea typeface="Arial" pitchFamily="34" charset="-122"/>
                <a:cs typeface="Arial" pitchFamily="34" charset="-120"/>
              </a:rPr>
              <a:t>Collision Engineers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The current process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Text 2"/>
          <p:cNvSpPr/>
          <p:nvPr/>
        </p:nvSpPr>
        <p:spPr>
          <a:xfrm>
            <a:off x="548640" y="1600200"/>
            <a:ext cx="4480560" cy="2103120"/>
          </a:xfrm>
          <a:prstGeom prst="rect">
            <a:avLst/>
          </a:prstGeom>
          <a:noFill/>
          <a:ln/>
        </p:spPr>
        <p:txBody>
          <a:bodyPr wrap="square" lIns="0" tIns="0" rIns="0" bIns="0" rtlCol="0" anchor="t"/>
          <a:lstStyle/>
          <a:p>
            <a:pPr indent="0" marL="0">
              <a:lnSpc>
                <a:spcPct val="135000"/>
              </a:lnSpc>
              <a:buNone/>
            </a:pPr>
            <a:r>
              <a:rPr lang="en-US" sz="1500" dirty="0">
                <a:solidFill>
                  <a:srgbClr val="16191D"/>
                </a:solidFill>
                <a:latin typeface="Arial" pitchFamily="34" charset="0"/>
                <a:ea typeface="Arial" pitchFamily="34" charset="-122"/>
                <a:cs typeface="Arial" pitchFamily="34" charset="-120"/>
              </a:rPr>
              <a:t>All work arrives by e-mail across three shared inboxes. Each e-mail is read, sorted and typed up by hand, and a case doesn't exist anywhere on our systems until the images arrive.</a:t>
            </a:r>
            <a:endParaRPr lang="en-US" sz="1500" dirty="0"/>
          </a:p>
        </p:txBody>
      </p:sp>
      <p:sp>
        <p:nvSpPr>
          <p:cNvPr id="6" name="Text 3"/>
          <p:cNvSpPr/>
          <p:nvPr/>
        </p:nvSpPr>
        <p:spPr>
          <a:xfrm>
            <a:off x="548640" y="3840480"/>
            <a:ext cx="4480560" cy="2011680"/>
          </a:xfrm>
          <a:prstGeom prst="rect">
            <a:avLst/>
          </a:prstGeom>
          <a:noFill/>
          <a:ln/>
        </p:spPr>
        <p:txBody>
          <a:bodyPr wrap="square" lIns="0" tIns="0" rIns="0" bIns="0" rtlCol="0" anchor="t"/>
          <a:lstStyle/>
          <a:p>
            <a:pPr indent="0" marL="0">
              <a:lnSpc>
                <a:spcPct val="135000"/>
              </a:lnSpc>
              <a:buNone/>
            </a:pPr>
            <a:r>
              <a:rPr lang="en-US" sz="1500" dirty="0">
                <a:solidFill>
                  <a:srgbClr val="16191D"/>
                </a:solidFill>
                <a:latin typeface="Arial" pitchFamily="34" charset="0"/>
                <a:ea typeface="Arial" pitchFamily="34" charset="-122"/>
                <a:cs typeface="Arial" pitchFamily="34" charset="-120"/>
              </a:rPr>
              <a:t>The new system automates as much of this as possible. E-mails are categorised automatically and the data is extracted from the attachments — built on the document mapper concept, reworked to run automatically on a cloud server rather than as an app you drag files into.</a:t>
            </a:r>
            <a:endParaRPr lang="en-US" sz="1500" dirty="0"/>
          </a:p>
        </p:txBody>
      </p:sp>
      <p:sp>
        <p:nvSpPr>
          <p:cNvPr id="7" name="Shape 4"/>
          <p:cNvSpPr/>
          <p:nvPr/>
        </p:nvSpPr>
        <p:spPr>
          <a:xfrm>
            <a:off x="5349240" y="1691640"/>
            <a:ext cx="3154680" cy="2084832"/>
          </a:xfrm>
          <a:prstGeom prst="rect">
            <a:avLst/>
          </a:prstGeom>
          <a:solidFill>
            <a:srgbClr val="F5F4F2"/>
          </a:solidFill>
          <a:ln w="9525">
            <a:solidFill>
              <a:srgbClr val="D8D6D3"/>
            </a:solidFill>
            <a:prstDash val="solid"/>
          </a:ln>
        </p:spPr>
      </p:sp>
      <p:sp>
        <p:nvSpPr>
          <p:cNvPr id="8" name="Text 5"/>
          <p:cNvSpPr/>
          <p:nvPr/>
        </p:nvSpPr>
        <p:spPr>
          <a:xfrm>
            <a:off x="5577840" y="1892808"/>
            <a:ext cx="914400" cy="365760"/>
          </a:xfrm>
          <a:prstGeom prst="rect">
            <a:avLst/>
          </a:prstGeom>
          <a:noFill/>
          <a:ln/>
        </p:spPr>
        <p:txBody>
          <a:bodyPr wrap="square" lIns="0" tIns="0" rIns="0" bIns="0" rtlCol="0" anchor="ctr"/>
          <a:lstStyle/>
          <a:p>
            <a:pPr indent="0" marL="0">
              <a:buNone/>
            </a:pPr>
            <a:r>
              <a:rPr lang="en-US" sz="1800" b="1" dirty="0">
                <a:solidFill>
                  <a:srgbClr val="C80A32"/>
                </a:solidFill>
                <a:latin typeface="Tw Cen MT" pitchFamily="34" charset="0"/>
                <a:ea typeface="Tw Cen MT" pitchFamily="34" charset="-122"/>
                <a:cs typeface="Tw Cen MT" pitchFamily="34" charset="-120"/>
              </a:rPr>
              <a:t>01</a:t>
            </a:r>
            <a:endParaRPr lang="en-US" sz="1800" dirty="0"/>
          </a:p>
        </p:txBody>
      </p:sp>
      <p:sp>
        <p:nvSpPr>
          <p:cNvPr id="9" name="Text 6"/>
          <p:cNvSpPr/>
          <p:nvPr/>
        </p:nvSpPr>
        <p:spPr>
          <a:xfrm>
            <a:off x="5577840" y="2313432"/>
            <a:ext cx="2697480" cy="365760"/>
          </a:xfrm>
          <a:prstGeom prst="rect">
            <a:avLst/>
          </a:prstGeom>
          <a:noFill/>
          <a:ln/>
        </p:spPr>
        <p:txBody>
          <a:bodyPr wrap="square" lIns="0" tIns="0" rIns="0" bIns="0" rtlCol="0" anchor="ctr"/>
          <a:lstStyle/>
          <a:p>
            <a:pPr indent="0" marL="0">
              <a:buNone/>
            </a:pPr>
            <a:r>
              <a:rPr lang="en-US" sz="1700" b="1" dirty="0">
                <a:solidFill>
                  <a:srgbClr val="16191D"/>
                </a:solidFill>
                <a:latin typeface="Tw Cen MT" pitchFamily="34" charset="0"/>
                <a:ea typeface="Tw Cen MT" pitchFamily="34" charset="-122"/>
                <a:cs typeface="Tw Cen MT" pitchFamily="34" charset="-120"/>
              </a:rPr>
              <a:t>Three shared inboxes</a:t>
            </a:r>
            <a:endParaRPr lang="en-US" sz="1700" dirty="0"/>
          </a:p>
        </p:txBody>
      </p:sp>
      <p:sp>
        <p:nvSpPr>
          <p:cNvPr id="10" name="Text 7"/>
          <p:cNvSpPr/>
          <p:nvPr/>
        </p:nvSpPr>
        <p:spPr>
          <a:xfrm>
            <a:off x="5577840" y="2715768"/>
            <a:ext cx="2697480" cy="896112"/>
          </a:xfrm>
          <a:prstGeom prst="rect">
            <a:avLst/>
          </a:prstGeom>
          <a:noFill/>
          <a:ln/>
        </p:spPr>
        <p:txBody>
          <a:bodyPr wrap="square" lIns="0" tIns="0" rIns="0" bIns="0" rtlCol="0" anchor="t"/>
          <a:lstStyle/>
          <a:p>
            <a:pPr indent="0" marL="0">
              <a:lnSpc>
                <a:spcPct val="125000"/>
              </a:lnSpc>
              <a:buNone/>
            </a:pPr>
            <a:r>
              <a:rPr lang="en-US" sz="1250" dirty="0">
                <a:solidFill>
                  <a:srgbClr val="6B6B6B"/>
                </a:solidFill>
                <a:latin typeface="Arial" pitchFamily="34" charset="0"/>
                <a:ea typeface="Arial" pitchFamily="34" charset="-122"/>
                <a:cs typeface="Arial" pitchFamily="34" charset="-120"/>
              </a:rPr>
              <a:t>info@, engineers@ and desk@ — all triaged by hand.</a:t>
            </a:r>
            <a:endParaRPr lang="en-US" sz="1250" dirty="0"/>
          </a:p>
        </p:txBody>
      </p:sp>
      <p:sp>
        <p:nvSpPr>
          <p:cNvPr id="11" name="Shape 8"/>
          <p:cNvSpPr/>
          <p:nvPr/>
        </p:nvSpPr>
        <p:spPr>
          <a:xfrm>
            <a:off x="8823960" y="1691640"/>
            <a:ext cx="3154680" cy="2084832"/>
          </a:xfrm>
          <a:prstGeom prst="rect">
            <a:avLst/>
          </a:prstGeom>
          <a:solidFill>
            <a:srgbClr val="F5F4F2"/>
          </a:solidFill>
          <a:ln w="9525">
            <a:solidFill>
              <a:srgbClr val="D8D6D3"/>
            </a:solidFill>
            <a:prstDash val="solid"/>
          </a:ln>
        </p:spPr>
      </p:sp>
      <p:sp>
        <p:nvSpPr>
          <p:cNvPr id="12" name="Text 9"/>
          <p:cNvSpPr/>
          <p:nvPr/>
        </p:nvSpPr>
        <p:spPr>
          <a:xfrm>
            <a:off x="9052560" y="1892808"/>
            <a:ext cx="914400" cy="365760"/>
          </a:xfrm>
          <a:prstGeom prst="rect">
            <a:avLst/>
          </a:prstGeom>
          <a:noFill/>
          <a:ln/>
        </p:spPr>
        <p:txBody>
          <a:bodyPr wrap="square" lIns="0" tIns="0" rIns="0" bIns="0" rtlCol="0" anchor="ctr"/>
          <a:lstStyle/>
          <a:p>
            <a:pPr indent="0" marL="0">
              <a:buNone/>
            </a:pPr>
            <a:r>
              <a:rPr lang="en-US" sz="1800" b="1" dirty="0">
                <a:solidFill>
                  <a:srgbClr val="C80A32"/>
                </a:solidFill>
                <a:latin typeface="Tw Cen MT" pitchFamily="34" charset="0"/>
                <a:ea typeface="Tw Cen MT" pitchFamily="34" charset="-122"/>
                <a:cs typeface="Tw Cen MT" pitchFamily="34" charset="-120"/>
              </a:rPr>
              <a:t>02</a:t>
            </a:r>
            <a:endParaRPr lang="en-US" sz="1800" dirty="0"/>
          </a:p>
        </p:txBody>
      </p:sp>
      <p:sp>
        <p:nvSpPr>
          <p:cNvPr id="13" name="Text 10"/>
          <p:cNvSpPr/>
          <p:nvPr/>
        </p:nvSpPr>
        <p:spPr>
          <a:xfrm>
            <a:off x="9052560" y="2313432"/>
            <a:ext cx="2697480" cy="365760"/>
          </a:xfrm>
          <a:prstGeom prst="rect">
            <a:avLst/>
          </a:prstGeom>
          <a:noFill/>
          <a:ln/>
        </p:spPr>
        <p:txBody>
          <a:bodyPr wrap="square" lIns="0" tIns="0" rIns="0" bIns="0" rtlCol="0" anchor="ctr"/>
          <a:lstStyle/>
          <a:p>
            <a:pPr indent="0" marL="0">
              <a:buNone/>
            </a:pPr>
            <a:r>
              <a:rPr lang="en-US" sz="1700" b="1" dirty="0">
                <a:solidFill>
                  <a:srgbClr val="16191D"/>
                </a:solidFill>
                <a:latin typeface="Tw Cen MT" pitchFamily="34" charset="0"/>
                <a:ea typeface="Tw Cen MT" pitchFamily="34" charset="-122"/>
                <a:cs typeface="Tw Cen MT" pitchFamily="34" charset="-120"/>
              </a:rPr>
              <a:t>No early identifier</a:t>
            </a:r>
            <a:endParaRPr lang="en-US" sz="1700" dirty="0"/>
          </a:p>
        </p:txBody>
      </p:sp>
      <p:sp>
        <p:nvSpPr>
          <p:cNvPr id="14" name="Text 11"/>
          <p:cNvSpPr/>
          <p:nvPr/>
        </p:nvSpPr>
        <p:spPr>
          <a:xfrm>
            <a:off x="9052560" y="2715768"/>
            <a:ext cx="2697480" cy="896112"/>
          </a:xfrm>
          <a:prstGeom prst="rect">
            <a:avLst/>
          </a:prstGeom>
          <a:noFill/>
          <a:ln/>
        </p:spPr>
        <p:txBody>
          <a:bodyPr wrap="square" lIns="0" tIns="0" rIns="0" bIns="0" rtlCol="0" anchor="t"/>
          <a:lstStyle/>
          <a:p>
            <a:pPr indent="0" marL="0">
              <a:lnSpc>
                <a:spcPct val="125000"/>
              </a:lnSpc>
              <a:buNone/>
            </a:pPr>
            <a:r>
              <a:rPr lang="en-US" sz="1250" dirty="0">
                <a:solidFill>
                  <a:srgbClr val="6B6B6B"/>
                </a:solidFill>
                <a:latin typeface="Arial" pitchFamily="34" charset="0"/>
                <a:ea typeface="Arial" pitchFamily="34" charset="-122"/>
                <a:cs typeface="Arial" pitchFamily="34" charset="-120"/>
              </a:rPr>
              <a:t>No Case/PO exists until the images arrive, so there is no internal identifier to organise early e-mails around.</a:t>
            </a:r>
            <a:endParaRPr lang="en-US" sz="1250" dirty="0"/>
          </a:p>
        </p:txBody>
      </p:sp>
      <p:sp>
        <p:nvSpPr>
          <p:cNvPr id="15" name="Shape 12"/>
          <p:cNvSpPr/>
          <p:nvPr/>
        </p:nvSpPr>
        <p:spPr>
          <a:xfrm>
            <a:off x="5349240" y="4096512"/>
            <a:ext cx="3154680" cy="2084832"/>
          </a:xfrm>
          <a:prstGeom prst="rect">
            <a:avLst/>
          </a:prstGeom>
          <a:solidFill>
            <a:srgbClr val="F5F4F2"/>
          </a:solidFill>
          <a:ln w="9525">
            <a:solidFill>
              <a:srgbClr val="D8D6D3"/>
            </a:solidFill>
            <a:prstDash val="solid"/>
          </a:ln>
        </p:spPr>
      </p:sp>
      <p:sp>
        <p:nvSpPr>
          <p:cNvPr id="16" name="Text 13"/>
          <p:cNvSpPr/>
          <p:nvPr/>
        </p:nvSpPr>
        <p:spPr>
          <a:xfrm>
            <a:off x="5577840" y="4297680"/>
            <a:ext cx="914400" cy="365760"/>
          </a:xfrm>
          <a:prstGeom prst="rect">
            <a:avLst/>
          </a:prstGeom>
          <a:noFill/>
          <a:ln/>
        </p:spPr>
        <p:txBody>
          <a:bodyPr wrap="square" lIns="0" tIns="0" rIns="0" bIns="0" rtlCol="0" anchor="ctr"/>
          <a:lstStyle/>
          <a:p>
            <a:pPr indent="0" marL="0">
              <a:buNone/>
            </a:pPr>
            <a:r>
              <a:rPr lang="en-US" sz="1800" b="1" dirty="0">
                <a:solidFill>
                  <a:srgbClr val="C80A32"/>
                </a:solidFill>
                <a:latin typeface="Tw Cen MT" pitchFamily="34" charset="0"/>
                <a:ea typeface="Tw Cen MT" pitchFamily="34" charset="-122"/>
                <a:cs typeface="Tw Cen MT" pitchFamily="34" charset="-120"/>
              </a:rPr>
              <a:t>03</a:t>
            </a:r>
            <a:endParaRPr lang="en-US" sz="1800" dirty="0"/>
          </a:p>
        </p:txBody>
      </p:sp>
      <p:sp>
        <p:nvSpPr>
          <p:cNvPr id="17" name="Text 14"/>
          <p:cNvSpPr/>
          <p:nvPr/>
        </p:nvSpPr>
        <p:spPr>
          <a:xfrm>
            <a:off x="5577840" y="4718304"/>
            <a:ext cx="2697480" cy="365760"/>
          </a:xfrm>
          <a:prstGeom prst="rect">
            <a:avLst/>
          </a:prstGeom>
          <a:noFill/>
          <a:ln/>
        </p:spPr>
        <p:txBody>
          <a:bodyPr wrap="square" lIns="0" tIns="0" rIns="0" bIns="0" rtlCol="0" anchor="ctr"/>
          <a:lstStyle/>
          <a:p>
            <a:pPr indent="0" marL="0">
              <a:buNone/>
            </a:pPr>
            <a:r>
              <a:rPr lang="en-US" sz="1700" b="1" dirty="0">
                <a:solidFill>
                  <a:srgbClr val="16191D"/>
                </a:solidFill>
                <a:latin typeface="Tw Cen MT" pitchFamily="34" charset="0"/>
                <a:ea typeface="Tw Cen MT" pitchFamily="34" charset="-122"/>
                <a:cs typeface="Tw Cen MT" pitchFamily="34" charset="-120"/>
              </a:rPr>
              <a:t>Manual data entry</a:t>
            </a:r>
            <a:endParaRPr lang="en-US" sz="1700" dirty="0"/>
          </a:p>
        </p:txBody>
      </p:sp>
      <p:sp>
        <p:nvSpPr>
          <p:cNvPr id="18" name="Text 15"/>
          <p:cNvSpPr/>
          <p:nvPr/>
        </p:nvSpPr>
        <p:spPr>
          <a:xfrm>
            <a:off x="5577840" y="5120640"/>
            <a:ext cx="2697480" cy="896112"/>
          </a:xfrm>
          <a:prstGeom prst="rect">
            <a:avLst/>
          </a:prstGeom>
          <a:noFill/>
          <a:ln/>
        </p:spPr>
        <p:txBody>
          <a:bodyPr wrap="square" lIns="0" tIns="0" rIns="0" bIns="0" rtlCol="0" anchor="t"/>
          <a:lstStyle/>
          <a:p>
            <a:pPr indent="0" marL="0">
              <a:lnSpc>
                <a:spcPct val="125000"/>
              </a:lnSpc>
              <a:buNone/>
            </a:pPr>
            <a:r>
              <a:rPr lang="en-US" sz="1250" dirty="0">
                <a:solidFill>
                  <a:srgbClr val="6B6B6B"/>
                </a:solidFill>
                <a:latin typeface="Arial" pitchFamily="34" charset="0"/>
                <a:ea typeface="Arial" pitchFamily="34" charset="-122"/>
                <a:cs typeface="Arial" pitchFamily="34" charset="-120"/>
              </a:rPr>
              <a:t>Details are typed out of the instruction documents by hand.</a:t>
            </a:r>
            <a:endParaRPr lang="en-US" sz="1250" dirty="0"/>
          </a:p>
        </p:txBody>
      </p:sp>
      <p:sp>
        <p:nvSpPr>
          <p:cNvPr id="19" name="Shape 16"/>
          <p:cNvSpPr/>
          <p:nvPr/>
        </p:nvSpPr>
        <p:spPr>
          <a:xfrm>
            <a:off x="8823960" y="4096512"/>
            <a:ext cx="3154680" cy="2084832"/>
          </a:xfrm>
          <a:prstGeom prst="rect">
            <a:avLst/>
          </a:prstGeom>
          <a:solidFill>
            <a:srgbClr val="F5F4F2"/>
          </a:solidFill>
          <a:ln w="9525">
            <a:solidFill>
              <a:srgbClr val="D8D6D3"/>
            </a:solidFill>
            <a:prstDash val="solid"/>
          </a:ln>
        </p:spPr>
      </p:sp>
      <p:sp>
        <p:nvSpPr>
          <p:cNvPr id="20" name="Text 17"/>
          <p:cNvSpPr/>
          <p:nvPr/>
        </p:nvSpPr>
        <p:spPr>
          <a:xfrm>
            <a:off x="9052560" y="4297680"/>
            <a:ext cx="914400" cy="365760"/>
          </a:xfrm>
          <a:prstGeom prst="rect">
            <a:avLst/>
          </a:prstGeom>
          <a:noFill/>
          <a:ln/>
        </p:spPr>
        <p:txBody>
          <a:bodyPr wrap="square" lIns="0" tIns="0" rIns="0" bIns="0" rtlCol="0" anchor="ctr"/>
          <a:lstStyle/>
          <a:p>
            <a:pPr indent="0" marL="0">
              <a:buNone/>
            </a:pPr>
            <a:r>
              <a:rPr lang="en-US" sz="1800" b="1" dirty="0">
                <a:solidFill>
                  <a:srgbClr val="C80A32"/>
                </a:solidFill>
                <a:latin typeface="Tw Cen MT" pitchFamily="34" charset="0"/>
                <a:ea typeface="Tw Cen MT" pitchFamily="34" charset="-122"/>
                <a:cs typeface="Tw Cen MT" pitchFamily="34" charset="-120"/>
              </a:rPr>
              <a:t>04</a:t>
            </a:r>
            <a:endParaRPr lang="en-US" sz="1800" dirty="0"/>
          </a:p>
        </p:txBody>
      </p:sp>
      <p:sp>
        <p:nvSpPr>
          <p:cNvPr id="21" name="Text 18"/>
          <p:cNvSpPr/>
          <p:nvPr/>
        </p:nvSpPr>
        <p:spPr>
          <a:xfrm>
            <a:off x="9052560" y="4718304"/>
            <a:ext cx="2697480" cy="365760"/>
          </a:xfrm>
          <a:prstGeom prst="rect">
            <a:avLst/>
          </a:prstGeom>
          <a:noFill/>
          <a:ln/>
        </p:spPr>
        <p:txBody>
          <a:bodyPr wrap="square" lIns="0" tIns="0" rIns="0" bIns="0" rtlCol="0" anchor="ctr"/>
          <a:lstStyle/>
          <a:p>
            <a:pPr indent="0" marL="0">
              <a:buNone/>
            </a:pPr>
            <a:r>
              <a:rPr lang="en-US" sz="1700" b="1" dirty="0">
                <a:solidFill>
                  <a:srgbClr val="16191D"/>
                </a:solidFill>
                <a:latin typeface="Tw Cen MT" pitchFamily="34" charset="0"/>
                <a:ea typeface="Tw Cen MT" pitchFamily="34" charset="-122"/>
                <a:cs typeface="Tw Cen MT" pitchFamily="34" charset="-120"/>
              </a:rPr>
              <a:t>Limited visibility</a:t>
            </a:r>
            <a:endParaRPr lang="en-US" sz="1700" dirty="0"/>
          </a:p>
        </p:txBody>
      </p:sp>
      <p:sp>
        <p:nvSpPr>
          <p:cNvPr id="22" name="Text 19"/>
          <p:cNvSpPr/>
          <p:nvPr/>
        </p:nvSpPr>
        <p:spPr>
          <a:xfrm>
            <a:off x="9052560" y="5120640"/>
            <a:ext cx="2697480" cy="896112"/>
          </a:xfrm>
          <a:prstGeom prst="rect">
            <a:avLst/>
          </a:prstGeom>
          <a:noFill/>
          <a:ln/>
        </p:spPr>
        <p:txBody>
          <a:bodyPr wrap="square" lIns="0" tIns="0" rIns="0" bIns="0" rtlCol="0" anchor="t"/>
          <a:lstStyle/>
          <a:p>
            <a:pPr indent="0" marL="0">
              <a:lnSpc>
                <a:spcPct val="125000"/>
              </a:lnSpc>
              <a:buNone/>
            </a:pPr>
            <a:r>
              <a:rPr lang="en-US" sz="1250" dirty="0">
                <a:solidFill>
                  <a:srgbClr val="6B6B6B"/>
                </a:solidFill>
                <a:latin typeface="Arial" pitchFamily="34" charset="0"/>
                <a:ea typeface="Arial" pitchFamily="34" charset="-122"/>
                <a:cs typeface="Arial" pitchFamily="34" charset="-120"/>
              </a:rPr>
              <a:t>“How many did we send over today?” has no quick answer at the moment.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THE PIPELINE</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What happens when an e-mail arrives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Shape 2"/>
          <p:cNvSpPr/>
          <p:nvPr/>
        </p:nvSpPr>
        <p:spPr>
          <a:xfrm>
            <a:off x="1394460" y="2093976"/>
            <a:ext cx="9400032" cy="0"/>
          </a:xfrm>
          <a:prstGeom prst="line">
            <a:avLst/>
          </a:prstGeom>
          <a:noFill/>
          <a:ln w="19050">
            <a:solidFill>
              <a:srgbClr val="D8D6D3"/>
            </a:solidFill>
            <a:prstDash val="solid"/>
          </a:ln>
        </p:spPr>
      </p:sp>
      <p:sp>
        <p:nvSpPr>
          <p:cNvPr id="6" name="Text 3"/>
          <p:cNvSpPr/>
          <p:nvPr/>
        </p:nvSpPr>
        <p:spPr>
          <a:xfrm>
            <a:off x="1220724"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7" name="Text 4"/>
          <p:cNvSpPr/>
          <p:nvPr/>
        </p:nvSpPr>
        <p:spPr>
          <a:xfrm>
            <a:off x="530352"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E-mail received</a:t>
            </a:r>
            <a:endParaRPr lang="en-US" sz="1300" dirty="0"/>
          </a:p>
        </p:txBody>
      </p:sp>
      <p:sp>
        <p:nvSpPr>
          <p:cNvPr id="8" name="Text 5"/>
          <p:cNvSpPr/>
          <p:nvPr/>
        </p:nvSpPr>
        <p:spPr>
          <a:xfrm>
            <a:off x="530352"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A webhook notifies the orchestrator — a Function on Azure — which obtains a copy of the e-mail.</a:t>
            </a:r>
            <a:endParaRPr lang="en-US" sz="1050" dirty="0"/>
          </a:p>
        </p:txBody>
      </p:sp>
      <p:sp>
        <p:nvSpPr>
          <p:cNvPr id="9" name="Text 6"/>
          <p:cNvSpPr/>
          <p:nvPr/>
        </p:nvSpPr>
        <p:spPr>
          <a:xfrm>
            <a:off x="3100730"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10" name="Text 7"/>
          <p:cNvSpPr/>
          <p:nvPr/>
        </p:nvSpPr>
        <p:spPr>
          <a:xfrm>
            <a:off x="2410358"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Provider match</a:t>
            </a:r>
            <a:endParaRPr lang="en-US" sz="1300" dirty="0"/>
          </a:p>
        </p:txBody>
      </p:sp>
      <p:sp>
        <p:nvSpPr>
          <p:cNvPr id="11" name="Text 8"/>
          <p:cNvSpPr/>
          <p:nvPr/>
        </p:nvSpPr>
        <p:spPr>
          <a:xfrm>
            <a:off x="2410358"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Attempted from the e-mail address and any attachments.</a:t>
            </a:r>
            <a:endParaRPr lang="en-US" sz="1050" dirty="0"/>
          </a:p>
        </p:txBody>
      </p:sp>
      <p:sp>
        <p:nvSpPr>
          <p:cNvPr id="12" name="Text 9"/>
          <p:cNvSpPr/>
          <p:nvPr/>
        </p:nvSpPr>
        <p:spPr>
          <a:xfrm>
            <a:off x="4980737"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3" name="Text 10"/>
          <p:cNvSpPr/>
          <p:nvPr/>
        </p:nvSpPr>
        <p:spPr>
          <a:xfrm>
            <a:off x="4290365"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Classified by type</a:t>
            </a:r>
            <a:endParaRPr lang="en-US" sz="1300" dirty="0"/>
          </a:p>
        </p:txBody>
      </p:sp>
      <p:sp>
        <p:nvSpPr>
          <p:cNvPr id="14" name="Text 11"/>
          <p:cNvSpPr/>
          <p:nvPr/>
        </p:nvSpPr>
        <p:spPr>
          <a:xfrm>
            <a:off x="4290365"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Receiving work (existing provider or new enquiry), case update, case query, cancellation, payment, other.</a:t>
            </a:r>
            <a:endParaRPr lang="en-US" sz="1050" dirty="0"/>
          </a:p>
        </p:txBody>
      </p:sp>
      <p:sp>
        <p:nvSpPr>
          <p:cNvPr id="15" name="Text 12"/>
          <p:cNvSpPr/>
          <p:nvPr/>
        </p:nvSpPr>
        <p:spPr>
          <a:xfrm>
            <a:off x="6860743"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4</a:t>
            </a:r>
            <a:endParaRPr lang="en-US" sz="1400" dirty="0"/>
          </a:p>
        </p:txBody>
      </p:sp>
      <p:sp>
        <p:nvSpPr>
          <p:cNvPr id="16" name="Text 13"/>
          <p:cNvSpPr/>
          <p:nvPr/>
        </p:nvSpPr>
        <p:spPr>
          <a:xfrm>
            <a:off x="6170371"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Data extracted</a:t>
            </a:r>
            <a:endParaRPr lang="en-US" sz="1300" dirty="0"/>
          </a:p>
        </p:txBody>
      </p:sp>
      <p:sp>
        <p:nvSpPr>
          <p:cNvPr id="17" name="Text 14"/>
          <p:cNvSpPr/>
          <p:nvPr/>
        </p:nvSpPr>
        <p:spPr>
          <a:xfrm>
            <a:off x="6170371"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The document mapper reads the instruction document automatically.</a:t>
            </a:r>
            <a:endParaRPr lang="en-US" sz="1050" dirty="0"/>
          </a:p>
        </p:txBody>
      </p:sp>
      <p:sp>
        <p:nvSpPr>
          <p:cNvPr id="18" name="Text 15"/>
          <p:cNvSpPr/>
          <p:nvPr/>
        </p:nvSpPr>
        <p:spPr>
          <a:xfrm>
            <a:off x="8740750"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5</a:t>
            </a:r>
            <a:endParaRPr lang="en-US" sz="1400" dirty="0"/>
          </a:p>
        </p:txBody>
      </p:sp>
      <p:sp>
        <p:nvSpPr>
          <p:cNvPr id="19" name="Text 16"/>
          <p:cNvSpPr/>
          <p:nvPr/>
        </p:nvSpPr>
        <p:spPr>
          <a:xfrm>
            <a:off x="8050378"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Case created</a:t>
            </a:r>
            <a:endParaRPr lang="en-US" sz="1300" dirty="0"/>
          </a:p>
        </p:txBody>
      </p:sp>
      <p:sp>
        <p:nvSpPr>
          <p:cNvPr id="20" name="Text 17"/>
          <p:cNvSpPr/>
          <p:nvPr/>
        </p:nvSpPr>
        <p:spPr>
          <a:xfrm>
            <a:off x="8050378"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For existing providers' instructions, a case is created and the e-mail and attachments stored on Box under it.</a:t>
            </a:r>
            <a:endParaRPr lang="en-US" sz="1050" dirty="0"/>
          </a:p>
        </p:txBody>
      </p:sp>
      <p:sp>
        <p:nvSpPr>
          <p:cNvPr id="21" name="Text 18"/>
          <p:cNvSpPr/>
          <p:nvPr/>
        </p:nvSpPr>
        <p:spPr>
          <a:xfrm>
            <a:off x="10620756" y="1920240"/>
            <a:ext cx="347472" cy="347472"/>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6</a:t>
            </a:r>
            <a:endParaRPr lang="en-US" sz="1400" dirty="0"/>
          </a:p>
        </p:txBody>
      </p:sp>
      <p:sp>
        <p:nvSpPr>
          <p:cNvPr id="22" name="Text 19"/>
          <p:cNvSpPr/>
          <p:nvPr/>
        </p:nvSpPr>
        <p:spPr>
          <a:xfrm>
            <a:off x="9930384" y="2423160"/>
            <a:ext cx="1728216" cy="594360"/>
          </a:xfrm>
          <a:prstGeom prst="rect">
            <a:avLst/>
          </a:prstGeom>
          <a:noFill/>
          <a:ln/>
        </p:spPr>
        <p:txBody>
          <a:bodyPr wrap="square" lIns="0" tIns="0" rIns="0" bIns="0" rtlCol="0" anchor="t"/>
          <a:lstStyle/>
          <a:p>
            <a:pPr algn="ctr" indent="0" marL="0">
              <a:buNone/>
            </a:pPr>
            <a:r>
              <a:rPr lang="en-US" sz="1300" b="1" dirty="0">
                <a:solidFill>
                  <a:srgbClr val="16191D"/>
                </a:solidFill>
                <a:latin typeface="Tw Cen MT" pitchFamily="34" charset="0"/>
                <a:ea typeface="Tw Cen MT" pitchFamily="34" charset="-122"/>
                <a:cs typeface="Tw Cen MT" pitchFamily="34" charset="-120"/>
              </a:rPr>
              <a:t>Tracked after</a:t>
            </a:r>
            <a:endParaRPr lang="en-US" sz="1300" dirty="0"/>
          </a:p>
        </p:txBody>
      </p:sp>
      <p:sp>
        <p:nvSpPr>
          <p:cNvPr id="23" name="Text 20"/>
          <p:cNvSpPr/>
          <p:nvPr/>
        </p:nvSpPr>
        <p:spPr>
          <a:xfrm>
            <a:off x="9930384" y="2999232"/>
            <a:ext cx="1728216" cy="1371600"/>
          </a:xfrm>
          <a:prstGeom prst="rect">
            <a:avLst/>
          </a:prstGeom>
          <a:noFill/>
          <a:ln/>
        </p:spPr>
        <p:txBody>
          <a:bodyPr wrap="square" lIns="0" tIns="0" rIns="0" bIns="0" rtlCol="0" anchor="t"/>
          <a:lstStyle/>
          <a:p>
            <a:pPr algn="ctr" indent="0" marL="0">
              <a:lnSpc>
                <a:spcPct val="120000"/>
              </a:lnSpc>
              <a:buNone/>
            </a:pPr>
            <a:r>
              <a:rPr lang="en-US" sz="1050" dirty="0">
                <a:solidFill>
                  <a:srgbClr val="6B6B6B"/>
                </a:solidFill>
                <a:latin typeface="Arial" pitchFamily="34" charset="0"/>
                <a:ea typeface="Arial" pitchFamily="34" charset="-122"/>
                <a:cs typeface="Arial" pitchFamily="34" charset="-120"/>
              </a:rPr>
              <a:t>Followed through EVA submission and on to the report being sent.</a:t>
            </a:r>
            <a:endParaRPr lang="en-US" sz="1050" dirty="0"/>
          </a:p>
        </p:txBody>
      </p:sp>
      <p:sp>
        <p:nvSpPr>
          <p:cNvPr id="24" name="Shape 21"/>
          <p:cNvSpPr/>
          <p:nvPr/>
        </p:nvSpPr>
        <p:spPr>
          <a:xfrm>
            <a:off x="548640" y="4892040"/>
            <a:ext cx="5394960" cy="1234440"/>
          </a:xfrm>
          <a:prstGeom prst="rect">
            <a:avLst/>
          </a:prstGeom>
          <a:solidFill>
            <a:srgbClr val="F5F4F2"/>
          </a:solidFill>
          <a:ln w="9525">
            <a:solidFill>
              <a:srgbClr val="D8D6D3"/>
            </a:solidFill>
            <a:prstDash val="solid"/>
          </a:ln>
        </p:spPr>
      </p:sp>
      <p:sp>
        <p:nvSpPr>
          <p:cNvPr id="25" name="Text 22"/>
          <p:cNvSpPr/>
          <p:nvPr/>
        </p:nvSpPr>
        <p:spPr>
          <a:xfrm>
            <a:off x="822960" y="5074920"/>
            <a:ext cx="4846320" cy="320040"/>
          </a:xfrm>
          <a:prstGeom prst="rect">
            <a:avLst/>
          </a:prstGeom>
          <a:noFill/>
          <a:ln/>
        </p:spPr>
        <p:txBody>
          <a:bodyPr wrap="square" lIns="0" tIns="0" rIns="0" bIns="0" rtlCol="0" anchor="ctr"/>
          <a:lstStyle/>
          <a:p>
            <a:pPr indent="0" marL="0">
              <a:buNone/>
            </a:pPr>
            <a:r>
              <a:rPr lang="en-US" sz="1500" b="1" dirty="0">
                <a:solidFill>
                  <a:srgbClr val="C80A32"/>
                </a:solidFill>
                <a:latin typeface="Tw Cen MT" pitchFamily="34" charset="0"/>
                <a:ea typeface="Tw Cen MT" pitchFamily="34" charset="-122"/>
                <a:cs typeface="Tw Cen MT" pitchFamily="34" charset="-120"/>
              </a:rPr>
              <a:t>Deterministic first</a:t>
            </a:r>
            <a:endParaRPr lang="en-US" sz="1500" dirty="0"/>
          </a:p>
        </p:txBody>
      </p:sp>
      <p:sp>
        <p:nvSpPr>
          <p:cNvPr id="26" name="Text 23"/>
          <p:cNvSpPr/>
          <p:nvPr/>
        </p:nvSpPr>
        <p:spPr>
          <a:xfrm>
            <a:off x="822960" y="5413248"/>
            <a:ext cx="4846320" cy="594360"/>
          </a:xfrm>
          <a:prstGeom prst="rect">
            <a:avLst/>
          </a:prstGeom>
          <a:noFill/>
          <a:ln/>
        </p:spPr>
        <p:txBody>
          <a:bodyPr wrap="square" lIns="0" tIns="0" rIns="0" bIns="0" rtlCol="0" anchor="t"/>
          <a:lstStyle/>
          <a:p>
            <a:pPr indent="0" marL="0">
              <a:lnSpc>
                <a:spcPct val="120000"/>
              </a:lnSpc>
              <a:buNone/>
            </a:pPr>
            <a:r>
              <a:rPr lang="en-US" sz="1250" dirty="0">
                <a:solidFill>
                  <a:srgbClr val="16191D"/>
                </a:solidFill>
                <a:latin typeface="Arial" pitchFamily="34" charset="0"/>
                <a:ea typeface="Arial" pitchFamily="34" charset="-122"/>
                <a:cs typeface="Arial" pitchFamily="34" charset="-120"/>
              </a:rPr>
              <a:t>Classification, extraction and address suggestions all run deterministically first — zero AI usage. Below a set confidence level, an AI assists and provides suggestions.</a:t>
            </a:r>
            <a:endParaRPr lang="en-US" sz="1250" dirty="0"/>
          </a:p>
        </p:txBody>
      </p:sp>
      <p:sp>
        <p:nvSpPr>
          <p:cNvPr id="27" name="Shape 24"/>
          <p:cNvSpPr/>
          <p:nvPr/>
        </p:nvSpPr>
        <p:spPr>
          <a:xfrm>
            <a:off x="6263640" y="4892040"/>
            <a:ext cx="5376672" cy="1234440"/>
          </a:xfrm>
          <a:prstGeom prst="rect">
            <a:avLst/>
          </a:prstGeom>
          <a:solidFill>
            <a:srgbClr val="F5F4F2"/>
          </a:solidFill>
          <a:ln w="9525">
            <a:solidFill>
              <a:srgbClr val="D8D6D3"/>
            </a:solidFill>
            <a:prstDash val="solid"/>
          </a:ln>
        </p:spPr>
      </p:sp>
      <p:sp>
        <p:nvSpPr>
          <p:cNvPr id="28" name="Text 25"/>
          <p:cNvSpPr/>
          <p:nvPr/>
        </p:nvSpPr>
        <p:spPr>
          <a:xfrm>
            <a:off x="6537960" y="5074920"/>
            <a:ext cx="4828032" cy="320040"/>
          </a:xfrm>
          <a:prstGeom prst="rect">
            <a:avLst/>
          </a:prstGeom>
          <a:noFill/>
          <a:ln/>
        </p:spPr>
        <p:txBody>
          <a:bodyPr wrap="square" lIns="0" tIns="0" rIns="0" bIns="0" rtlCol="0" anchor="ctr"/>
          <a:lstStyle/>
          <a:p>
            <a:pPr indent="0" marL="0">
              <a:buNone/>
            </a:pPr>
            <a:r>
              <a:rPr lang="en-US" sz="1500" b="1" dirty="0">
                <a:solidFill>
                  <a:srgbClr val="C80A32"/>
                </a:solidFill>
                <a:latin typeface="Tw Cen MT" pitchFamily="34" charset="0"/>
                <a:ea typeface="Tw Cen MT" pitchFamily="34" charset="-122"/>
                <a:cs typeface="Tw Cen MT" pitchFamily="34" charset="-120"/>
              </a:rPr>
              <a:t>Nothing stored on the app</a:t>
            </a:r>
            <a:endParaRPr lang="en-US" sz="1500" dirty="0"/>
          </a:p>
        </p:txBody>
      </p:sp>
      <p:sp>
        <p:nvSpPr>
          <p:cNvPr id="29" name="Text 26"/>
          <p:cNvSpPr/>
          <p:nvPr/>
        </p:nvSpPr>
        <p:spPr>
          <a:xfrm>
            <a:off x="6537960" y="5413248"/>
            <a:ext cx="4828032" cy="594360"/>
          </a:xfrm>
          <a:prstGeom prst="rect">
            <a:avLst/>
          </a:prstGeom>
          <a:noFill/>
          <a:ln/>
        </p:spPr>
        <p:txBody>
          <a:bodyPr wrap="square" lIns="0" tIns="0" rIns="0" bIns="0" rtlCol="0" anchor="t"/>
          <a:lstStyle/>
          <a:p>
            <a:pPr indent="0" marL="0">
              <a:lnSpc>
                <a:spcPct val="120000"/>
              </a:lnSpc>
              <a:buNone/>
            </a:pPr>
            <a:r>
              <a:rPr lang="en-US" sz="1250" dirty="0">
                <a:solidFill>
                  <a:srgbClr val="16191D"/>
                </a:solidFill>
                <a:latin typeface="Arial" pitchFamily="34" charset="0"/>
                <a:ea typeface="Arial" pitchFamily="34" charset="-122"/>
                <a:cs typeface="Arial" pitchFamily="34" charset="-120"/>
              </a:rPr>
              <a:t>Everything is deep links to Box — documents are stored there under the Case/PO.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OVERVIEW</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Dashboard</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pic>
        <p:nvPicPr>
          <p:cNvPr id="5" name="Image 1" descr="deck_assets/dashboard.png">    </p:cNvPr>
          <p:cNvPicPr>
            <a:picLocks noChangeAspect="1"/>
          </p:cNvPicPr>
          <p:nvPr/>
        </p:nvPicPr>
        <p:blipFill>
          <a:blip r:embed="rId2"/>
          <a:stretch>
            <a:fillRect/>
          </a:stretch>
        </p:blipFill>
        <p:spPr>
          <a:xfrm>
            <a:off x="1709928" y="1481328"/>
            <a:ext cx="8778240" cy="4937760"/>
          </a:xfrm>
          <a:prstGeom prst="rect">
            <a:avLst/>
          </a:prstGeom>
        </p:spPr>
      </p:pic>
      <p:sp>
        <p:nvSpPr>
          <p:cNvPr id="6" name="Shape 2"/>
          <p:cNvSpPr/>
          <p:nvPr/>
        </p:nvSpPr>
        <p:spPr>
          <a:xfrm>
            <a:off x="1709928" y="1481328"/>
            <a:ext cx="8778240" cy="4937760"/>
          </a:xfrm>
          <a:prstGeom prst="rect">
            <a:avLst/>
          </a:prstGeom>
          <a:solidFill>
            <a:srgbClr val="FFFFFF">
              <a:alpha val="0"/>
            </a:srgbClr>
          </a:solidFill>
          <a:ln w="12700">
            <a:solidFill>
              <a:srgbClr val="D8D6D3"/>
            </a:solidFill>
            <a:prstDash val="solid"/>
          </a:ln>
        </p:spPr>
      </p:sp>
      <p:sp>
        <p:nvSpPr>
          <p:cNvPr id="7" name="Text 3"/>
          <p:cNvSpPr/>
          <p:nvPr/>
        </p:nvSpPr>
        <p:spPr>
          <a:xfrm>
            <a:off x="1709928" y="6473952"/>
            <a:ext cx="8778240" cy="301752"/>
          </a:xfrm>
          <a:prstGeom prst="rect">
            <a:avLst/>
          </a:prstGeom>
          <a:noFill/>
          <a:ln/>
        </p:spPr>
        <p:txBody>
          <a:bodyPr wrap="square" lIns="0" tIns="0" rIns="0" bIns="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Basic stats and an overview of the work that's waiting and what's been sent — including how many went over today.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TRIAGE</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Inbox view</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Text 2"/>
          <p:cNvSpPr/>
          <p:nvPr/>
        </p:nvSpPr>
        <p:spPr>
          <a:xfrm>
            <a:off x="548640" y="1783080"/>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6" name="Text 3"/>
          <p:cNvSpPr/>
          <p:nvPr/>
        </p:nvSpPr>
        <p:spPr>
          <a:xfrm>
            <a:off x="1024128" y="1746504"/>
            <a:ext cx="3291840" cy="5943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All three inboxes</a:t>
            </a:r>
            <a:endParaRPr lang="en-US" sz="1550" dirty="0"/>
          </a:p>
        </p:txBody>
      </p:sp>
      <p:sp>
        <p:nvSpPr>
          <p:cNvPr id="7" name="Text 4"/>
          <p:cNvSpPr/>
          <p:nvPr/>
        </p:nvSpPr>
        <p:spPr>
          <a:xfrm>
            <a:off x="1024128" y="2286000"/>
            <a:ext cx="3291840" cy="91440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 unified view of the three shared inboxes, with options to filter by inbox and e-mail type, plus a search feature.</a:t>
            </a:r>
            <a:endParaRPr lang="en-US" sz="1200" dirty="0"/>
          </a:p>
        </p:txBody>
      </p:sp>
      <p:sp>
        <p:nvSpPr>
          <p:cNvPr id="8" name="Text 5"/>
          <p:cNvSpPr/>
          <p:nvPr/>
        </p:nvSpPr>
        <p:spPr>
          <a:xfrm>
            <a:off x="548640" y="3264408"/>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9" name="Text 6"/>
          <p:cNvSpPr/>
          <p:nvPr/>
        </p:nvSpPr>
        <p:spPr>
          <a:xfrm>
            <a:off x="1024128" y="3227832"/>
            <a:ext cx="3291840" cy="5943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Classified by type</a:t>
            </a:r>
            <a:endParaRPr lang="en-US" sz="1550" dirty="0"/>
          </a:p>
        </p:txBody>
      </p:sp>
      <p:sp>
        <p:nvSpPr>
          <p:cNvPr id="10" name="Text 7"/>
          <p:cNvSpPr/>
          <p:nvPr/>
        </p:nvSpPr>
        <p:spPr>
          <a:xfrm>
            <a:off x="1024128" y="3767328"/>
            <a:ext cx="3291840" cy="91440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Each e-mail is classified — receiving work, case update, case query, cancellation, payment — with a suggested action.</a:t>
            </a:r>
            <a:endParaRPr lang="en-US" sz="1200" dirty="0"/>
          </a:p>
        </p:txBody>
      </p:sp>
      <p:sp>
        <p:nvSpPr>
          <p:cNvPr id="11" name="Text 8"/>
          <p:cNvSpPr/>
          <p:nvPr/>
        </p:nvSpPr>
        <p:spPr>
          <a:xfrm>
            <a:off x="548640" y="4745736"/>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2" name="Text 9"/>
          <p:cNvSpPr/>
          <p:nvPr/>
        </p:nvSpPr>
        <p:spPr>
          <a:xfrm>
            <a:off x="1024128" y="4709160"/>
            <a:ext cx="3291840" cy="5943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Sent e-mails logged too</a:t>
            </a:r>
            <a:endParaRPr lang="en-US" sz="1550" dirty="0"/>
          </a:p>
        </p:txBody>
      </p:sp>
      <p:sp>
        <p:nvSpPr>
          <p:cNvPr id="13" name="Text 10"/>
          <p:cNvSpPr/>
          <p:nvPr/>
        </p:nvSpPr>
        <p:spPr>
          <a:xfrm>
            <a:off x="1024128" y="5248656"/>
            <a:ext cx="3291840" cy="91440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 notification hook logs our sent e-mails on cases, so they are viewable here as well.</a:t>
            </a:r>
            <a:endParaRPr lang="en-US" sz="1200" dirty="0"/>
          </a:p>
        </p:txBody>
      </p:sp>
      <p:pic>
        <p:nvPicPr>
          <p:cNvPr id="14" name="Image 1" descr="deck_assets/inbox.png">    </p:cNvPr>
          <p:cNvPicPr>
            <a:picLocks noChangeAspect="1"/>
          </p:cNvPicPr>
          <p:nvPr/>
        </p:nvPicPr>
        <p:blipFill>
          <a:blip r:embed="rId2"/>
          <a:stretch>
            <a:fillRect/>
          </a:stretch>
        </p:blipFill>
        <p:spPr>
          <a:xfrm>
            <a:off x="4617720" y="1691640"/>
            <a:ext cx="7040880" cy="3959352"/>
          </a:xfrm>
          <a:prstGeom prst="rect">
            <a:avLst/>
          </a:prstGeom>
        </p:spPr>
      </p:pic>
      <p:sp>
        <p:nvSpPr>
          <p:cNvPr id="15" name="Shape 11"/>
          <p:cNvSpPr/>
          <p:nvPr/>
        </p:nvSpPr>
        <p:spPr>
          <a:xfrm>
            <a:off x="4617720" y="1691640"/>
            <a:ext cx="7040880" cy="3959352"/>
          </a:xfrm>
          <a:prstGeom prst="rect">
            <a:avLst/>
          </a:prstGeom>
          <a:solidFill>
            <a:srgbClr val="FFFFFF">
              <a:alpha val="0"/>
            </a:srgbClr>
          </a:solidFill>
          <a:ln w="12700">
            <a:solidFill>
              <a:srgbClr val="D8D6D3"/>
            </a:solidFill>
            <a:prstDash val="solid"/>
          </a:ln>
        </p:spPr>
      </p:sp>
      <p:sp>
        <p:nvSpPr>
          <p:cNvPr id="16" name="Text 12"/>
          <p:cNvSpPr/>
          <p:nvPr/>
        </p:nvSpPr>
        <p:spPr>
          <a:xfrm>
            <a:off x="4617720" y="5760720"/>
            <a:ext cx="7040880" cy="274320"/>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The inbox view — classification, suggested action and status for each e-mail.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INTAKE</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Automatic case creation</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Text 2"/>
          <p:cNvSpPr/>
          <p:nvPr/>
        </p:nvSpPr>
        <p:spPr>
          <a:xfrm>
            <a:off x="548640" y="1645920"/>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6" name="Text 3"/>
          <p:cNvSpPr/>
          <p:nvPr/>
        </p:nvSpPr>
        <p:spPr>
          <a:xfrm>
            <a:off x="1024128" y="1609344"/>
            <a:ext cx="557784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Case/PO minted at initial intake</a:t>
            </a:r>
            <a:endParaRPr lang="en-US" sz="1550" dirty="0"/>
          </a:p>
        </p:txBody>
      </p:sp>
      <p:sp>
        <p:nvSpPr>
          <p:cNvPr id="7" name="Text 4"/>
          <p:cNvSpPr/>
          <p:nvPr/>
        </p:nvSpPr>
        <p:spPr>
          <a:xfrm>
            <a:off x="1024128" y="1993392"/>
            <a:ext cx="5577840" cy="8229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Unlike the current process, the Case/PO number is created when the instructions arrive — we no longer wait for images to have an internal identifier.</a:t>
            </a:r>
            <a:endParaRPr lang="en-US" sz="1200" dirty="0"/>
          </a:p>
        </p:txBody>
      </p:sp>
      <p:sp>
        <p:nvSpPr>
          <p:cNvPr id="8" name="Text 5"/>
          <p:cNvSpPr/>
          <p:nvPr/>
        </p:nvSpPr>
        <p:spPr>
          <a:xfrm>
            <a:off x="548640" y="2852928"/>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9" name="Text 6"/>
          <p:cNvSpPr/>
          <p:nvPr/>
        </p:nvSpPr>
        <p:spPr>
          <a:xfrm>
            <a:off x="1024128" y="2816352"/>
            <a:ext cx="557784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Stored on Box at the same time</a:t>
            </a:r>
            <a:endParaRPr lang="en-US" sz="1550" dirty="0"/>
          </a:p>
        </p:txBody>
      </p:sp>
      <p:sp>
        <p:nvSpPr>
          <p:cNvPr id="10" name="Text 7"/>
          <p:cNvSpPr/>
          <p:nvPr/>
        </p:nvSpPr>
        <p:spPr>
          <a:xfrm>
            <a:off x="1024128" y="3200400"/>
            <a:ext cx="5577840" cy="8229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The e-mail and any attachments are stored on Box under the Case/PO.</a:t>
            </a:r>
            <a:endParaRPr lang="en-US" sz="1200" dirty="0"/>
          </a:p>
        </p:txBody>
      </p:sp>
      <p:sp>
        <p:nvSpPr>
          <p:cNvPr id="11" name="Text 8"/>
          <p:cNvSpPr/>
          <p:nvPr/>
        </p:nvSpPr>
        <p:spPr>
          <a:xfrm>
            <a:off x="548640" y="4059936"/>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2" name="Text 9"/>
          <p:cNvSpPr/>
          <p:nvPr/>
        </p:nvSpPr>
        <p:spPr>
          <a:xfrm>
            <a:off x="1024128" y="4023360"/>
            <a:ext cx="557784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Images-only cases</a:t>
            </a:r>
            <a:endParaRPr lang="en-US" sz="1550" dirty="0"/>
          </a:p>
        </p:txBody>
      </p:sp>
      <p:sp>
        <p:nvSpPr>
          <p:cNvPr id="13" name="Text 10"/>
          <p:cNvSpPr/>
          <p:nvPr/>
        </p:nvSpPr>
        <p:spPr>
          <a:xfrm>
            <a:off x="1024128" y="4407408"/>
            <a:ext cx="5577840" cy="8229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Where an e-mail just contains images, the registration is read from the e-mail content or attachment — or from the image itself with OCR/VLM — and an “images only” case is created, identified by registration.</a:t>
            </a:r>
            <a:endParaRPr lang="en-US" sz="1200" dirty="0"/>
          </a:p>
        </p:txBody>
      </p:sp>
      <p:sp>
        <p:nvSpPr>
          <p:cNvPr id="14" name="Text 11"/>
          <p:cNvSpPr/>
          <p:nvPr/>
        </p:nvSpPr>
        <p:spPr>
          <a:xfrm>
            <a:off x="548640" y="5266944"/>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4</a:t>
            </a:r>
            <a:endParaRPr lang="en-US" sz="1400" dirty="0"/>
          </a:p>
        </p:txBody>
      </p:sp>
      <p:sp>
        <p:nvSpPr>
          <p:cNvPr id="15" name="Text 12"/>
          <p:cNvSpPr/>
          <p:nvPr/>
        </p:nvSpPr>
        <p:spPr>
          <a:xfrm>
            <a:off x="1024128" y="5230368"/>
            <a:ext cx="557784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The two processes encircle each other</a:t>
            </a:r>
            <a:endParaRPr lang="en-US" sz="1550" dirty="0"/>
          </a:p>
        </p:txBody>
      </p:sp>
      <p:sp>
        <p:nvSpPr>
          <p:cNvPr id="16" name="Text 13"/>
          <p:cNvSpPr/>
          <p:nvPr/>
        </p:nvSpPr>
        <p:spPr>
          <a:xfrm>
            <a:off x="1024128" y="5614416"/>
            <a:ext cx="5577840" cy="8229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Instructions are checked against active images-only cases, and vice versa. On a registration match the two are merged, so no case ends up orphaned.</a:t>
            </a:r>
            <a:endParaRPr lang="en-US" sz="1200" dirty="0"/>
          </a:p>
        </p:txBody>
      </p:sp>
      <p:sp>
        <p:nvSpPr>
          <p:cNvPr id="17" name="Shape 14"/>
          <p:cNvSpPr/>
          <p:nvPr/>
        </p:nvSpPr>
        <p:spPr>
          <a:xfrm>
            <a:off x="7452360" y="1828800"/>
            <a:ext cx="4023360" cy="868680"/>
          </a:xfrm>
          <a:prstGeom prst="roundRect">
            <a:avLst>
              <a:gd name="adj" fmla="val 5263"/>
            </a:avLst>
          </a:prstGeom>
          <a:solidFill>
            <a:srgbClr val="F5F4F2"/>
          </a:solidFill>
          <a:ln w="9525">
            <a:solidFill>
              <a:srgbClr val="D8D6D3"/>
            </a:solidFill>
            <a:prstDash val="solid"/>
          </a:ln>
        </p:spPr>
      </p:sp>
      <p:sp>
        <p:nvSpPr>
          <p:cNvPr id="18" name="Text 15"/>
          <p:cNvSpPr/>
          <p:nvPr/>
        </p:nvSpPr>
        <p:spPr>
          <a:xfrm>
            <a:off x="7680960" y="1947672"/>
            <a:ext cx="3566160" cy="320040"/>
          </a:xfrm>
          <a:prstGeom prst="rect">
            <a:avLst/>
          </a:prstGeom>
          <a:noFill/>
          <a:ln/>
        </p:spPr>
        <p:txBody>
          <a:bodyPr wrap="square" lIns="0" tIns="0" rIns="0" bIns="0" rtlCol="0" anchor="ctr"/>
          <a:lstStyle/>
          <a:p>
            <a:pPr indent="0" marL="0">
              <a:buNone/>
            </a:pPr>
            <a:r>
              <a:rPr lang="en-US" sz="1400" b="1" dirty="0">
                <a:solidFill>
                  <a:srgbClr val="16191D"/>
                </a:solidFill>
                <a:latin typeface="Tw Cen MT" pitchFamily="34" charset="0"/>
                <a:ea typeface="Tw Cen MT" pitchFamily="34" charset="-122"/>
                <a:cs typeface="Tw Cen MT" pitchFamily="34" charset="-120"/>
              </a:rPr>
              <a:t>Instructions case</a:t>
            </a:r>
            <a:endParaRPr lang="en-US" sz="1400" dirty="0"/>
          </a:p>
        </p:txBody>
      </p:sp>
      <p:sp>
        <p:nvSpPr>
          <p:cNvPr id="19" name="Text 16"/>
          <p:cNvSpPr/>
          <p:nvPr/>
        </p:nvSpPr>
        <p:spPr>
          <a:xfrm>
            <a:off x="7680960" y="2267712"/>
            <a:ext cx="3566160" cy="320040"/>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Created from the provider’s e-mail</a:t>
            </a:r>
            <a:endParaRPr lang="en-US" sz="1100" dirty="0"/>
          </a:p>
        </p:txBody>
      </p:sp>
      <p:sp>
        <p:nvSpPr>
          <p:cNvPr id="20" name="Shape 17"/>
          <p:cNvSpPr/>
          <p:nvPr/>
        </p:nvSpPr>
        <p:spPr>
          <a:xfrm>
            <a:off x="7452360" y="3017520"/>
            <a:ext cx="4023360" cy="868680"/>
          </a:xfrm>
          <a:prstGeom prst="roundRect">
            <a:avLst>
              <a:gd name="adj" fmla="val 5263"/>
            </a:avLst>
          </a:prstGeom>
          <a:solidFill>
            <a:srgbClr val="F5F4F2"/>
          </a:solidFill>
          <a:ln w="9525">
            <a:solidFill>
              <a:srgbClr val="D8D6D3"/>
            </a:solidFill>
            <a:prstDash val="solid"/>
          </a:ln>
        </p:spPr>
      </p:sp>
      <p:sp>
        <p:nvSpPr>
          <p:cNvPr id="21" name="Text 18"/>
          <p:cNvSpPr/>
          <p:nvPr/>
        </p:nvSpPr>
        <p:spPr>
          <a:xfrm>
            <a:off x="7680960" y="3136392"/>
            <a:ext cx="3566160" cy="320040"/>
          </a:xfrm>
          <a:prstGeom prst="rect">
            <a:avLst/>
          </a:prstGeom>
          <a:noFill/>
          <a:ln/>
        </p:spPr>
        <p:txBody>
          <a:bodyPr wrap="square" lIns="0" tIns="0" rIns="0" bIns="0" rtlCol="0" anchor="ctr"/>
          <a:lstStyle/>
          <a:p>
            <a:pPr indent="0" marL="0">
              <a:buNone/>
            </a:pPr>
            <a:r>
              <a:rPr lang="en-US" sz="1400" b="1" dirty="0">
                <a:solidFill>
                  <a:srgbClr val="16191D"/>
                </a:solidFill>
                <a:latin typeface="Tw Cen MT" pitchFamily="34" charset="0"/>
                <a:ea typeface="Tw Cen MT" pitchFamily="34" charset="-122"/>
                <a:cs typeface="Tw Cen MT" pitchFamily="34" charset="-120"/>
              </a:rPr>
              <a:t>Images-only case</a:t>
            </a:r>
            <a:endParaRPr lang="en-US" sz="1400" dirty="0"/>
          </a:p>
        </p:txBody>
      </p:sp>
      <p:sp>
        <p:nvSpPr>
          <p:cNvPr id="22" name="Text 19"/>
          <p:cNvSpPr/>
          <p:nvPr/>
        </p:nvSpPr>
        <p:spPr>
          <a:xfrm>
            <a:off x="7680960" y="3456432"/>
            <a:ext cx="3566160" cy="320040"/>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Identified by registration alone</a:t>
            </a:r>
            <a:endParaRPr lang="en-US" sz="1100" dirty="0"/>
          </a:p>
        </p:txBody>
      </p:sp>
      <p:sp>
        <p:nvSpPr>
          <p:cNvPr id="23" name="Shape 20"/>
          <p:cNvSpPr/>
          <p:nvPr/>
        </p:nvSpPr>
        <p:spPr>
          <a:xfrm>
            <a:off x="9235440" y="3977640"/>
            <a:ext cx="457200" cy="548640"/>
          </a:xfrm>
          <a:prstGeom prst="downArrow">
            <a:avLst/>
          </a:prstGeom>
          <a:solidFill>
            <a:srgbClr val="C80A32"/>
          </a:solidFill>
          <a:ln/>
        </p:spPr>
      </p:sp>
      <p:sp>
        <p:nvSpPr>
          <p:cNvPr id="24" name="Shape 21"/>
          <p:cNvSpPr/>
          <p:nvPr/>
        </p:nvSpPr>
        <p:spPr>
          <a:xfrm>
            <a:off x="7452360" y="4617720"/>
            <a:ext cx="4023360" cy="868680"/>
          </a:xfrm>
          <a:prstGeom prst="roundRect">
            <a:avLst>
              <a:gd name="adj" fmla="val 5263"/>
            </a:avLst>
          </a:prstGeom>
          <a:solidFill>
            <a:srgbClr val="2C2A27"/>
          </a:solidFill>
          <a:ln w="9525">
            <a:solidFill>
              <a:srgbClr val="D8D6D3"/>
            </a:solidFill>
            <a:prstDash val="solid"/>
          </a:ln>
        </p:spPr>
      </p:sp>
      <p:sp>
        <p:nvSpPr>
          <p:cNvPr id="25" name="Text 22"/>
          <p:cNvSpPr/>
          <p:nvPr/>
        </p:nvSpPr>
        <p:spPr>
          <a:xfrm>
            <a:off x="7680960" y="4736592"/>
            <a:ext cx="3566160" cy="320040"/>
          </a:xfrm>
          <a:prstGeom prst="rect">
            <a:avLst/>
          </a:prstGeom>
          <a:noFill/>
          <a:ln/>
        </p:spPr>
        <p:txBody>
          <a:bodyPr wrap="square" lIns="0" tIns="0" rIns="0" bIns="0" rtlCol="0" anchor="ctr"/>
          <a:lstStyle/>
          <a:p>
            <a:pPr indent="0" marL="0">
              <a:buNone/>
            </a:pPr>
            <a:r>
              <a:rPr lang="en-US" sz="1400" b="1" dirty="0">
                <a:solidFill>
                  <a:srgbClr val="FFFFFF"/>
                </a:solidFill>
                <a:latin typeface="Tw Cen MT" pitchFamily="34" charset="0"/>
                <a:ea typeface="Tw Cen MT" pitchFamily="34" charset="-122"/>
                <a:cs typeface="Tw Cen MT" pitchFamily="34" charset="-120"/>
              </a:rPr>
              <a:t>One Case/PO</a:t>
            </a:r>
            <a:endParaRPr lang="en-US" sz="1400" dirty="0"/>
          </a:p>
        </p:txBody>
      </p:sp>
      <p:sp>
        <p:nvSpPr>
          <p:cNvPr id="26" name="Text 23"/>
          <p:cNvSpPr/>
          <p:nvPr/>
        </p:nvSpPr>
        <p:spPr>
          <a:xfrm>
            <a:off x="7680960" y="5056632"/>
            <a:ext cx="3566160" cy="320040"/>
          </a:xfrm>
          <a:prstGeom prst="rect">
            <a:avLst/>
          </a:prstGeom>
          <a:noFill/>
          <a:ln/>
        </p:spPr>
        <p:txBody>
          <a:bodyPr wrap="square" lIns="0" tIns="0" rIns="0" bIns="0" rtlCol="0" anchor="ctr"/>
          <a:lstStyle/>
          <a:p>
            <a:pPr indent="0" marL="0">
              <a:buNone/>
            </a:pPr>
            <a:r>
              <a:rPr lang="en-US" sz="1100" dirty="0">
                <a:solidFill>
                  <a:srgbClr val="C9C7C4"/>
                </a:solidFill>
                <a:latin typeface="Arial" pitchFamily="34" charset="0"/>
                <a:ea typeface="Arial" pitchFamily="34" charset="-122"/>
                <a:cs typeface="Arial" pitchFamily="34" charset="-120"/>
              </a:rPr>
              <a:t>Merged on a registration match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WORKFLOW</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Queues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pic>
        <p:nvPicPr>
          <p:cNvPr id="5" name="Image 1" descr="deck_assets/queue_notready.png">    </p:cNvPr>
          <p:cNvPicPr>
            <a:picLocks noChangeAspect="1"/>
          </p:cNvPicPr>
          <p:nvPr/>
        </p:nvPicPr>
        <p:blipFill>
          <a:blip r:embed="rId2"/>
          <a:stretch>
            <a:fillRect/>
          </a:stretch>
        </p:blipFill>
        <p:spPr>
          <a:xfrm>
            <a:off x="1709928" y="1481328"/>
            <a:ext cx="8778240" cy="4937760"/>
          </a:xfrm>
          <a:prstGeom prst="rect">
            <a:avLst/>
          </a:prstGeom>
        </p:spPr>
      </p:pic>
      <p:sp>
        <p:nvSpPr>
          <p:cNvPr id="6" name="Shape 2"/>
          <p:cNvSpPr/>
          <p:nvPr/>
        </p:nvSpPr>
        <p:spPr>
          <a:xfrm>
            <a:off x="1709928" y="1481328"/>
            <a:ext cx="8778240" cy="4937760"/>
          </a:xfrm>
          <a:prstGeom prst="rect">
            <a:avLst/>
          </a:prstGeom>
          <a:solidFill>
            <a:srgbClr val="FFFFFF">
              <a:alpha val="0"/>
            </a:srgbClr>
          </a:solidFill>
          <a:ln w="12700">
            <a:solidFill>
              <a:srgbClr val="D8D6D3"/>
            </a:solidFill>
            <a:prstDash val="solid"/>
          </a:ln>
        </p:spPr>
      </p:sp>
      <p:sp>
        <p:nvSpPr>
          <p:cNvPr id="7" name="Text 3"/>
          <p:cNvSpPr/>
          <p:nvPr/>
        </p:nvSpPr>
        <p:spPr>
          <a:xfrm>
            <a:off x="1709928" y="6473952"/>
            <a:ext cx="8778240" cy="301752"/>
          </a:xfrm>
          <a:prstGeom prst="rect">
            <a:avLst/>
          </a:prstGeom>
          <a:noFill/>
          <a:ln/>
        </p:spPr>
        <p:txBody>
          <a:bodyPr wrap="square" lIns="0" tIns="0" rIns="0" bIns="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Not ready, Review and Held — each case shows its status, what’s outstanding, its age and when it was last updated.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EVIDENCE</a:t>
            </a:r>
            <a:endParaRPr lang="en-US" sz="1100" dirty="0"/>
          </a:p>
        </p:txBody>
      </p:sp>
      <p:sp>
        <p:nvSpPr>
          <p:cNvPr id="3" name="Text 1"/>
          <p:cNvSpPr/>
          <p:nvPr/>
        </p:nvSpPr>
        <p:spPr>
          <a:xfrm>
            <a:off x="548640" y="658368"/>
            <a:ext cx="987552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Getting images onto cases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Shape 2"/>
          <p:cNvSpPr/>
          <p:nvPr/>
        </p:nvSpPr>
        <p:spPr>
          <a:xfrm>
            <a:off x="548640" y="1783080"/>
            <a:ext cx="3602736" cy="1965960"/>
          </a:xfrm>
          <a:prstGeom prst="rect">
            <a:avLst/>
          </a:prstGeom>
          <a:solidFill>
            <a:srgbClr val="F5F4F2"/>
          </a:solidFill>
          <a:ln w="9525">
            <a:solidFill>
              <a:srgbClr val="D8D6D3"/>
            </a:solidFill>
            <a:prstDash val="solid"/>
          </a:ln>
        </p:spPr>
      </p:sp>
      <p:sp>
        <p:nvSpPr>
          <p:cNvPr id="6" name="Text 3"/>
          <p:cNvSpPr/>
          <p:nvPr/>
        </p:nvSpPr>
        <p:spPr>
          <a:xfrm>
            <a:off x="777240" y="2011680"/>
            <a:ext cx="329184" cy="329184"/>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7" name="Text 4"/>
          <p:cNvSpPr/>
          <p:nvPr/>
        </p:nvSpPr>
        <p:spPr>
          <a:xfrm>
            <a:off x="1261872" y="2002536"/>
            <a:ext cx="2688336" cy="384048"/>
          </a:xfrm>
          <a:prstGeom prst="rect">
            <a:avLst/>
          </a:prstGeom>
          <a:noFill/>
          <a:ln/>
        </p:spPr>
        <p:txBody>
          <a:bodyPr wrap="square" lIns="0" tIns="0" rIns="0" bIns="0" rtlCol="0" anchor="ctr"/>
          <a:lstStyle/>
          <a:p>
            <a:pPr indent="0" marL="0">
              <a:buNone/>
            </a:pPr>
            <a:r>
              <a:rPr lang="en-US" sz="1500" b="1" dirty="0">
                <a:solidFill>
                  <a:srgbClr val="16191D"/>
                </a:solidFill>
                <a:latin typeface="Tw Cen MT" pitchFamily="34" charset="0"/>
                <a:ea typeface="Tw Cen MT" pitchFamily="34" charset="-122"/>
                <a:cs typeface="Tw Cen MT" pitchFamily="34" charset="-120"/>
              </a:rPr>
              <a:t>Extracted from the e-mail</a:t>
            </a:r>
            <a:endParaRPr lang="en-US" sz="1500" dirty="0"/>
          </a:p>
        </p:txBody>
      </p:sp>
      <p:sp>
        <p:nvSpPr>
          <p:cNvPr id="8" name="Text 5"/>
          <p:cNvSpPr/>
          <p:nvPr/>
        </p:nvSpPr>
        <p:spPr>
          <a:xfrm>
            <a:off x="777240" y="2532888"/>
            <a:ext cx="3145536" cy="1005840"/>
          </a:xfrm>
          <a:prstGeom prst="rect">
            <a:avLst/>
          </a:prstGeom>
          <a:noFill/>
          <a:ln/>
        </p:spPr>
        <p:txBody>
          <a:bodyPr wrap="square" lIns="0" tIns="0" rIns="0" bIns="0" rtlCol="0" anchor="t"/>
          <a:lstStyle/>
          <a:p>
            <a:pPr indent="0" marL="0">
              <a:lnSpc>
                <a:spcPct val="122000"/>
              </a:lnSpc>
              <a:buNone/>
            </a:pPr>
            <a:r>
              <a:rPr lang="en-US" sz="1150" dirty="0">
                <a:solidFill>
                  <a:srgbClr val="6B6B6B"/>
                </a:solidFill>
                <a:latin typeface="Arial" pitchFamily="34" charset="0"/>
                <a:ea typeface="Arial" pitchFamily="34" charset="-122"/>
                <a:cs typeface="Arial" pitchFamily="34" charset="-120"/>
              </a:rPr>
              <a:t>Attachments are extracted and linked on arrival. Tractable’s e-mail style is already mapped, so images from their e-mails are extracted immediately.</a:t>
            </a:r>
            <a:endParaRPr lang="en-US" sz="1150" dirty="0"/>
          </a:p>
        </p:txBody>
      </p:sp>
      <p:sp>
        <p:nvSpPr>
          <p:cNvPr id="9" name="Shape 6"/>
          <p:cNvSpPr/>
          <p:nvPr/>
        </p:nvSpPr>
        <p:spPr>
          <a:xfrm>
            <a:off x="4434840" y="1783080"/>
            <a:ext cx="3602736" cy="1965960"/>
          </a:xfrm>
          <a:prstGeom prst="rect">
            <a:avLst/>
          </a:prstGeom>
          <a:solidFill>
            <a:srgbClr val="F5F4F2"/>
          </a:solidFill>
          <a:ln w="9525">
            <a:solidFill>
              <a:srgbClr val="D8D6D3"/>
            </a:solidFill>
            <a:prstDash val="solid"/>
          </a:ln>
        </p:spPr>
      </p:sp>
      <p:sp>
        <p:nvSpPr>
          <p:cNvPr id="10" name="Text 7"/>
          <p:cNvSpPr/>
          <p:nvPr/>
        </p:nvSpPr>
        <p:spPr>
          <a:xfrm>
            <a:off x="4663440" y="2011680"/>
            <a:ext cx="329184" cy="329184"/>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11" name="Text 8"/>
          <p:cNvSpPr/>
          <p:nvPr/>
        </p:nvSpPr>
        <p:spPr>
          <a:xfrm>
            <a:off x="5148072" y="2002536"/>
            <a:ext cx="2688336" cy="384048"/>
          </a:xfrm>
          <a:prstGeom prst="rect">
            <a:avLst/>
          </a:prstGeom>
          <a:noFill/>
          <a:ln/>
        </p:spPr>
        <p:txBody>
          <a:bodyPr wrap="square" lIns="0" tIns="0" rIns="0" bIns="0" rtlCol="0" anchor="ctr"/>
          <a:lstStyle/>
          <a:p>
            <a:pPr indent="0" marL="0">
              <a:buNone/>
            </a:pPr>
            <a:r>
              <a:rPr lang="en-US" sz="1500" b="1" dirty="0">
                <a:solidFill>
                  <a:srgbClr val="16191D"/>
                </a:solidFill>
                <a:latin typeface="Tw Cen MT" pitchFamily="34" charset="0"/>
                <a:ea typeface="Tw Cen MT" pitchFamily="34" charset="-122"/>
                <a:cs typeface="Tw Cen MT" pitchFamily="34" charset="-120"/>
              </a:rPr>
              <a:t>AI assistant in the app</a:t>
            </a:r>
            <a:endParaRPr lang="en-US" sz="1500" dirty="0"/>
          </a:p>
        </p:txBody>
      </p:sp>
      <p:sp>
        <p:nvSpPr>
          <p:cNvPr id="12" name="Text 9"/>
          <p:cNvSpPr/>
          <p:nvPr/>
        </p:nvSpPr>
        <p:spPr>
          <a:xfrm>
            <a:off x="4663440" y="2532888"/>
            <a:ext cx="3145536" cy="1005840"/>
          </a:xfrm>
          <a:prstGeom prst="rect">
            <a:avLst/>
          </a:prstGeom>
          <a:noFill/>
          <a:ln/>
        </p:spPr>
        <p:txBody>
          <a:bodyPr wrap="square" lIns="0" tIns="0" rIns="0" bIns="0" rtlCol="0" anchor="t"/>
          <a:lstStyle/>
          <a:p>
            <a:pPr indent="0" marL="0">
              <a:lnSpc>
                <a:spcPct val="122000"/>
              </a:lnSpc>
              <a:buNone/>
            </a:pPr>
            <a:r>
              <a:rPr lang="en-US" sz="1150" dirty="0">
                <a:solidFill>
                  <a:srgbClr val="6B6B6B"/>
                </a:solidFill>
                <a:latin typeface="Arial" pitchFamily="34" charset="0"/>
                <a:ea typeface="Arial" pitchFamily="34" charset="-122"/>
                <a:cs typeface="Arial" pitchFamily="34" charset="-120"/>
              </a:rPr>
              <a:t>Attach images and say “store these” — it reads the reg and either finds the case or creates a new images-only case.</a:t>
            </a:r>
            <a:endParaRPr lang="en-US" sz="1150" dirty="0"/>
          </a:p>
        </p:txBody>
      </p:sp>
      <p:sp>
        <p:nvSpPr>
          <p:cNvPr id="13" name="Shape 10"/>
          <p:cNvSpPr/>
          <p:nvPr/>
        </p:nvSpPr>
        <p:spPr>
          <a:xfrm>
            <a:off x="8321040" y="1783080"/>
            <a:ext cx="3602736" cy="1965960"/>
          </a:xfrm>
          <a:prstGeom prst="rect">
            <a:avLst/>
          </a:prstGeom>
          <a:solidFill>
            <a:srgbClr val="F5F4F2"/>
          </a:solidFill>
          <a:ln w="9525">
            <a:solidFill>
              <a:srgbClr val="D8D6D3"/>
            </a:solidFill>
            <a:prstDash val="solid"/>
          </a:ln>
        </p:spPr>
      </p:sp>
      <p:sp>
        <p:nvSpPr>
          <p:cNvPr id="14" name="Text 11"/>
          <p:cNvSpPr/>
          <p:nvPr/>
        </p:nvSpPr>
        <p:spPr>
          <a:xfrm>
            <a:off x="8549640" y="2011680"/>
            <a:ext cx="329184" cy="329184"/>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5" name="Text 12"/>
          <p:cNvSpPr/>
          <p:nvPr/>
        </p:nvSpPr>
        <p:spPr>
          <a:xfrm>
            <a:off x="9034272" y="2002536"/>
            <a:ext cx="2688336" cy="384048"/>
          </a:xfrm>
          <a:prstGeom prst="rect">
            <a:avLst/>
          </a:prstGeom>
          <a:noFill/>
          <a:ln/>
        </p:spPr>
        <p:txBody>
          <a:bodyPr wrap="square" lIns="0" tIns="0" rIns="0" bIns="0" rtlCol="0" anchor="ctr"/>
          <a:lstStyle/>
          <a:p>
            <a:pPr indent="0" marL="0">
              <a:buNone/>
            </a:pPr>
            <a:r>
              <a:rPr lang="en-US" sz="1500" b="1" dirty="0">
                <a:solidFill>
                  <a:srgbClr val="16191D"/>
                </a:solidFill>
                <a:latin typeface="Tw Cen MT" pitchFamily="34" charset="0"/>
                <a:ea typeface="Tw Cen MT" pitchFamily="34" charset="-122"/>
                <a:cs typeface="Tw Cen MT" pitchFamily="34" charset="-120"/>
              </a:rPr>
              <a:t>Chase with a Box link</a:t>
            </a:r>
            <a:endParaRPr lang="en-US" sz="1500" dirty="0"/>
          </a:p>
        </p:txBody>
      </p:sp>
      <p:sp>
        <p:nvSpPr>
          <p:cNvPr id="16" name="Text 13"/>
          <p:cNvSpPr/>
          <p:nvPr/>
        </p:nvSpPr>
        <p:spPr>
          <a:xfrm>
            <a:off x="8549640" y="2532888"/>
            <a:ext cx="3145536" cy="1005840"/>
          </a:xfrm>
          <a:prstGeom prst="rect">
            <a:avLst/>
          </a:prstGeom>
          <a:noFill/>
          <a:ln/>
        </p:spPr>
        <p:txBody>
          <a:bodyPr wrap="square" lIns="0" tIns="0" rIns="0" bIns="0" rtlCol="0" anchor="t"/>
          <a:lstStyle/>
          <a:p>
            <a:pPr indent="0" marL="0">
              <a:lnSpc>
                <a:spcPct val="122000"/>
              </a:lnSpc>
              <a:buNone/>
            </a:pPr>
            <a:r>
              <a:rPr lang="en-US" sz="1150" dirty="0">
                <a:solidFill>
                  <a:srgbClr val="6B6B6B"/>
                </a:solidFill>
                <a:latin typeface="Arial" pitchFamily="34" charset="0"/>
                <a:ea typeface="Arial" pitchFamily="34" charset="-122"/>
                <a:cs typeface="Arial" pitchFamily="34" charset="-120"/>
              </a:rPr>
              <a:t>One button creates a fileshare link for the case’s Box folder and copies a chase template. A Box webhook updates the case when images are uploaded.</a:t>
            </a:r>
            <a:endParaRPr lang="en-US" sz="1150" dirty="0"/>
          </a:p>
        </p:txBody>
      </p:sp>
      <p:sp>
        <p:nvSpPr>
          <p:cNvPr id="17" name="Shape 14"/>
          <p:cNvSpPr/>
          <p:nvPr/>
        </p:nvSpPr>
        <p:spPr>
          <a:xfrm>
            <a:off x="2491740" y="4023360"/>
            <a:ext cx="3602736" cy="1965960"/>
          </a:xfrm>
          <a:prstGeom prst="rect">
            <a:avLst/>
          </a:prstGeom>
          <a:solidFill>
            <a:srgbClr val="F5F4F2"/>
          </a:solidFill>
          <a:ln w="9525">
            <a:solidFill>
              <a:srgbClr val="D8D6D3"/>
            </a:solidFill>
            <a:prstDash val="solid"/>
          </a:ln>
        </p:spPr>
      </p:sp>
      <p:sp>
        <p:nvSpPr>
          <p:cNvPr id="18" name="Text 15"/>
          <p:cNvSpPr/>
          <p:nvPr/>
        </p:nvSpPr>
        <p:spPr>
          <a:xfrm>
            <a:off x="2720340" y="4251960"/>
            <a:ext cx="329184" cy="329184"/>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4</a:t>
            </a:r>
            <a:endParaRPr lang="en-US" sz="1400" dirty="0"/>
          </a:p>
        </p:txBody>
      </p:sp>
      <p:sp>
        <p:nvSpPr>
          <p:cNvPr id="19" name="Text 16"/>
          <p:cNvSpPr/>
          <p:nvPr/>
        </p:nvSpPr>
        <p:spPr>
          <a:xfrm>
            <a:off x="3204972" y="4242816"/>
            <a:ext cx="2688336" cy="384048"/>
          </a:xfrm>
          <a:prstGeom prst="rect">
            <a:avLst/>
          </a:prstGeom>
          <a:noFill/>
          <a:ln/>
        </p:spPr>
        <p:txBody>
          <a:bodyPr wrap="square" lIns="0" tIns="0" rIns="0" bIns="0" rtlCol="0" anchor="ctr"/>
          <a:lstStyle/>
          <a:p>
            <a:pPr indent="0" marL="0">
              <a:buNone/>
            </a:pPr>
            <a:r>
              <a:rPr lang="en-US" sz="1500" b="1" dirty="0">
                <a:solidFill>
                  <a:srgbClr val="16191D"/>
                </a:solidFill>
                <a:latin typeface="Tw Cen MT" pitchFamily="34" charset="0"/>
                <a:ea typeface="Tw Cen MT" pitchFamily="34" charset="-122"/>
                <a:cs typeface="Tw Cen MT" pitchFamily="34" charset="-120"/>
              </a:rPr>
              <a:t>Network drive via Claude</a:t>
            </a:r>
            <a:endParaRPr lang="en-US" sz="1500" dirty="0"/>
          </a:p>
        </p:txBody>
      </p:sp>
      <p:sp>
        <p:nvSpPr>
          <p:cNvPr id="20" name="Text 17"/>
          <p:cNvSpPr/>
          <p:nvPr/>
        </p:nvSpPr>
        <p:spPr>
          <a:xfrm>
            <a:off x="2720340" y="4773168"/>
            <a:ext cx="3145536" cy="1005840"/>
          </a:xfrm>
          <a:prstGeom prst="rect">
            <a:avLst/>
          </a:prstGeom>
          <a:noFill/>
          <a:ln/>
        </p:spPr>
        <p:txBody>
          <a:bodyPr wrap="square" lIns="0" tIns="0" rIns="0" bIns="0" rtlCol="0" anchor="t"/>
          <a:lstStyle/>
          <a:p>
            <a:pPr indent="0" marL="0">
              <a:lnSpc>
                <a:spcPct val="122000"/>
              </a:lnSpc>
              <a:buNone/>
            </a:pPr>
            <a:r>
              <a:rPr lang="en-US" sz="1150" dirty="0">
                <a:solidFill>
                  <a:srgbClr val="6B6B6B"/>
                </a:solidFill>
                <a:latin typeface="Arial" pitchFamily="34" charset="0"/>
                <a:ea typeface="Arial" pitchFamily="34" charset="-122"/>
                <a:cs typeface="Arial" pitchFamily="34" charset="-120"/>
              </a:rPr>
              <a:t>A Claude/Cowork automation checks the network drive where images are currently stored — usually foldered by registration, but the reg can be read either way.</a:t>
            </a:r>
            <a:endParaRPr lang="en-US" sz="1150" dirty="0"/>
          </a:p>
        </p:txBody>
      </p:sp>
      <p:sp>
        <p:nvSpPr>
          <p:cNvPr id="21" name="Shape 18"/>
          <p:cNvSpPr/>
          <p:nvPr/>
        </p:nvSpPr>
        <p:spPr>
          <a:xfrm>
            <a:off x="6377940" y="4023360"/>
            <a:ext cx="3602736" cy="1965960"/>
          </a:xfrm>
          <a:prstGeom prst="rect">
            <a:avLst/>
          </a:prstGeom>
          <a:solidFill>
            <a:srgbClr val="FFFFFF"/>
          </a:solidFill>
          <a:ln w="9525">
            <a:solidFill>
              <a:srgbClr val="D8D6D3"/>
            </a:solidFill>
            <a:prstDash val="solid"/>
          </a:ln>
        </p:spPr>
      </p:sp>
      <p:sp>
        <p:nvSpPr>
          <p:cNvPr id="22" name="Text 19"/>
          <p:cNvSpPr/>
          <p:nvPr/>
        </p:nvSpPr>
        <p:spPr>
          <a:xfrm>
            <a:off x="6606540" y="4251960"/>
            <a:ext cx="329184" cy="329184"/>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5</a:t>
            </a:r>
            <a:endParaRPr lang="en-US" sz="1400" dirty="0"/>
          </a:p>
        </p:txBody>
      </p:sp>
      <p:sp>
        <p:nvSpPr>
          <p:cNvPr id="23" name="Text 20"/>
          <p:cNvSpPr/>
          <p:nvPr/>
        </p:nvSpPr>
        <p:spPr>
          <a:xfrm>
            <a:off x="7091172" y="4242816"/>
            <a:ext cx="2688336" cy="384048"/>
          </a:xfrm>
          <a:prstGeom prst="rect">
            <a:avLst/>
          </a:prstGeom>
          <a:noFill/>
          <a:ln/>
        </p:spPr>
        <p:txBody>
          <a:bodyPr wrap="square" lIns="0" tIns="0" rIns="0" bIns="0" rtlCol="0" anchor="ctr"/>
          <a:lstStyle/>
          <a:p>
            <a:pPr indent="0" marL="0">
              <a:buNone/>
            </a:pPr>
            <a:r>
              <a:rPr lang="en-US" sz="1500" b="1" dirty="0">
                <a:solidFill>
                  <a:srgbClr val="16191D"/>
                </a:solidFill>
                <a:latin typeface="Tw Cen MT" pitchFamily="34" charset="0"/>
                <a:ea typeface="Tw Cen MT" pitchFamily="34" charset="-122"/>
                <a:cs typeface="Tw Cen MT" pitchFamily="34" charset="-120"/>
              </a:rPr>
              <a:t>Manual upload</a:t>
            </a:r>
            <a:endParaRPr lang="en-US" sz="1500" dirty="0"/>
          </a:p>
        </p:txBody>
      </p:sp>
      <p:sp>
        <p:nvSpPr>
          <p:cNvPr id="24" name="Text 21"/>
          <p:cNvSpPr/>
          <p:nvPr/>
        </p:nvSpPr>
        <p:spPr>
          <a:xfrm>
            <a:off x="6606540" y="4773168"/>
            <a:ext cx="3145536" cy="1005840"/>
          </a:xfrm>
          <a:prstGeom prst="rect">
            <a:avLst/>
          </a:prstGeom>
          <a:noFill/>
          <a:ln/>
        </p:spPr>
        <p:txBody>
          <a:bodyPr wrap="square" lIns="0" tIns="0" rIns="0" bIns="0" rtlCol="0" anchor="t"/>
          <a:lstStyle/>
          <a:p>
            <a:pPr indent="0" marL="0">
              <a:lnSpc>
                <a:spcPct val="122000"/>
              </a:lnSpc>
              <a:buNone/>
            </a:pPr>
            <a:r>
              <a:rPr lang="en-US" sz="1150" dirty="0">
                <a:solidFill>
                  <a:srgbClr val="6B6B6B"/>
                </a:solidFill>
                <a:latin typeface="Arial" pitchFamily="34" charset="0"/>
                <a:ea typeface="Arial" pitchFamily="34" charset="-122"/>
                <a:cs typeface="Arial" pitchFamily="34" charset="-120"/>
              </a:rPr>
              <a:t>Images can also just be uploaded manually and attached to a case.</a:t>
            </a:r>
            <a:endParaRPr lang="en-US" sz="1150" dirty="0"/>
          </a:p>
        </p:txBody>
      </p:sp>
      <p:sp>
        <p:nvSpPr>
          <p:cNvPr id="25" name="Text 22"/>
          <p:cNvSpPr/>
          <p:nvPr/>
        </p:nvSpPr>
        <p:spPr>
          <a:xfrm>
            <a:off x="548640" y="6400800"/>
            <a:ext cx="11091672" cy="301752"/>
          </a:xfrm>
          <a:prstGeom prst="rect">
            <a:avLst/>
          </a:prstGeom>
          <a:noFill/>
          <a:ln/>
        </p:spPr>
        <p:txBody>
          <a:bodyPr wrap="square" lIns="0" tIns="0" rIns="0" bIns="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There are a few more ideas to make this easier — including integrating Tractable or Raven.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CHASERS</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Chasing images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pic>
        <p:nvPicPr>
          <p:cNvPr id="5" name="Image 1" descr="deck_assets/chaser_page.png">    </p:cNvPr>
          <p:cNvPicPr>
            <a:picLocks noChangeAspect="1"/>
          </p:cNvPicPr>
          <p:nvPr/>
        </p:nvPicPr>
        <p:blipFill>
          <a:blip r:embed="rId2"/>
          <a:stretch>
            <a:fillRect/>
          </a:stretch>
        </p:blipFill>
        <p:spPr>
          <a:xfrm>
            <a:off x="548640" y="1874520"/>
            <a:ext cx="6675120" cy="3136392"/>
          </a:xfrm>
          <a:prstGeom prst="rect">
            <a:avLst/>
          </a:prstGeom>
        </p:spPr>
      </p:pic>
      <p:sp>
        <p:nvSpPr>
          <p:cNvPr id="6" name="Shape 2"/>
          <p:cNvSpPr/>
          <p:nvPr/>
        </p:nvSpPr>
        <p:spPr>
          <a:xfrm>
            <a:off x="548640" y="1874520"/>
            <a:ext cx="6675120" cy="3136392"/>
          </a:xfrm>
          <a:prstGeom prst="rect">
            <a:avLst/>
          </a:prstGeom>
          <a:solidFill>
            <a:srgbClr val="FFFFFF">
              <a:alpha val="0"/>
            </a:srgbClr>
          </a:solidFill>
          <a:ln w="12700">
            <a:solidFill>
              <a:srgbClr val="D8D6D3"/>
            </a:solidFill>
            <a:prstDash val="solid"/>
          </a:ln>
        </p:spPr>
      </p:sp>
      <p:sp>
        <p:nvSpPr>
          <p:cNvPr id="7" name="Text 3"/>
          <p:cNvSpPr/>
          <p:nvPr/>
        </p:nvSpPr>
        <p:spPr>
          <a:xfrm>
            <a:off x="548640" y="5138928"/>
            <a:ext cx="6675120" cy="502920"/>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The button creates a fileshare link for the case’s Box folder and copies a chase template — e-mail or WhatsApp — and the chase is logged.</a:t>
            </a:r>
            <a:endParaRPr lang="en-US" sz="1150" dirty="0"/>
          </a:p>
        </p:txBody>
      </p:sp>
      <p:pic>
        <p:nvPicPr>
          <p:cNvPr id="8" name="Image 2" descr="deck_assets/box_upload.png">    </p:cNvPr>
          <p:cNvPicPr>
            <a:picLocks noChangeAspect="1"/>
          </p:cNvPicPr>
          <p:nvPr/>
        </p:nvPicPr>
        <p:blipFill>
          <a:blip r:embed="rId3"/>
          <a:stretch>
            <a:fillRect/>
          </a:stretch>
        </p:blipFill>
        <p:spPr>
          <a:xfrm>
            <a:off x="7543800" y="2377440"/>
            <a:ext cx="4114800" cy="2313432"/>
          </a:xfrm>
          <a:prstGeom prst="rect">
            <a:avLst/>
          </a:prstGeom>
        </p:spPr>
      </p:pic>
      <p:sp>
        <p:nvSpPr>
          <p:cNvPr id="9" name="Shape 4"/>
          <p:cNvSpPr/>
          <p:nvPr/>
        </p:nvSpPr>
        <p:spPr>
          <a:xfrm>
            <a:off x="7543800" y="2377440"/>
            <a:ext cx="4114800" cy="2313432"/>
          </a:xfrm>
          <a:prstGeom prst="rect">
            <a:avLst/>
          </a:prstGeom>
          <a:solidFill>
            <a:srgbClr val="FFFFFF">
              <a:alpha val="0"/>
            </a:srgbClr>
          </a:solidFill>
          <a:ln w="12700">
            <a:solidFill>
              <a:srgbClr val="D8D6D3"/>
            </a:solidFill>
            <a:prstDash val="solid"/>
          </a:ln>
        </p:spPr>
      </p:sp>
      <p:sp>
        <p:nvSpPr>
          <p:cNvPr id="10" name="Text 5"/>
          <p:cNvSpPr/>
          <p:nvPr/>
        </p:nvSpPr>
        <p:spPr>
          <a:xfrm>
            <a:off x="7543800" y="4818888"/>
            <a:ext cx="4114800" cy="502920"/>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The client uploads to the case’s Box folder directly — no account needed.</a:t>
            </a:r>
            <a:endParaRPr lang="en-US" sz="1150" dirty="0"/>
          </a:p>
        </p:txBody>
      </p:sp>
      <p:sp>
        <p:nvSpPr>
          <p:cNvPr id="11" name="Shape 6"/>
          <p:cNvSpPr/>
          <p:nvPr/>
        </p:nvSpPr>
        <p:spPr>
          <a:xfrm>
            <a:off x="548640" y="5806440"/>
            <a:ext cx="11091672" cy="658368"/>
          </a:xfrm>
          <a:prstGeom prst="rect">
            <a:avLst/>
          </a:prstGeom>
          <a:solidFill>
            <a:srgbClr val="F5F4F2"/>
          </a:solidFill>
          <a:ln w="9525">
            <a:solidFill>
              <a:srgbClr val="D8D6D3"/>
            </a:solidFill>
            <a:prstDash val="solid"/>
          </a:ln>
        </p:spPr>
      </p:sp>
      <p:sp>
        <p:nvSpPr>
          <p:cNvPr id="12" name="Text 7"/>
          <p:cNvSpPr/>
          <p:nvPr/>
        </p:nvSpPr>
        <p:spPr>
          <a:xfrm>
            <a:off x="822960" y="5806440"/>
            <a:ext cx="10607040" cy="658368"/>
          </a:xfrm>
          <a:prstGeom prst="rect">
            <a:avLst/>
          </a:prstGeom>
          <a:noFill/>
          <a:ln/>
        </p:spPr>
        <p:txBody>
          <a:bodyPr wrap="square" lIns="0" tIns="0" rIns="0" bIns="0" rtlCol="0" anchor="ctr"/>
          <a:lstStyle/>
          <a:p>
            <a:pPr indent="0" marL="0">
              <a:buNone/>
            </a:pPr>
            <a:r>
              <a:rPr lang="en-US" sz="1300" b="1" dirty="0">
                <a:solidFill>
                  <a:srgbClr val="C80A32"/>
                </a:solidFill>
                <a:latin typeface="Arial" pitchFamily="34" charset="0"/>
                <a:ea typeface="Arial" pitchFamily="34" charset="-122"/>
                <a:cs typeface="Arial" pitchFamily="34" charset="-120"/>
              </a:rPr>
              <a:t>A Box webhook updates the case on the app as soon as images are uploaded</a:t>
            </a:r>
            <a:pPr indent="0" marL="0">
              <a:buNone/>
            </a:pPr>
            <a:r>
              <a:rPr lang="en-US" sz="1300" dirty="0">
                <a:solidFill>
                  <a:srgbClr val="16191D"/>
                </a:solidFill>
                <a:latin typeface="Arial" pitchFamily="34" charset="0"/>
                <a:ea typeface="Arial" pitchFamily="34" charset="-122"/>
                <a:cs typeface="Arial" pitchFamily="34" charset="-120"/>
              </a:rPr>
              <a:t> — no one has to check the folder or file anything.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CASE VIEW</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Every e-mail on the case</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pic>
        <p:nvPicPr>
          <p:cNvPr id="5" name="Image 1" descr="deck_assets/emails_linked.png">    </p:cNvPr>
          <p:cNvPicPr>
            <a:picLocks noChangeAspect="1"/>
          </p:cNvPicPr>
          <p:nvPr/>
        </p:nvPicPr>
        <p:blipFill>
          <a:blip r:embed="rId2"/>
          <a:stretch>
            <a:fillRect/>
          </a:stretch>
        </p:blipFill>
        <p:spPr>
          <a:xfrm>
            <a:off x="1709928" y="1481328"/>
            <a:ext cx="8778240" cy="4937760"/>
          </a:xfrm>
          <a:prstGeom prst="rect">
            <a:avLst/>
          </a:prstGeom>
        </p:spPr>
      </p:pic>
      <p:sp>
        <p:nvSpPr>
          <p:cNvPr id="6" name="Shape 2"/>
          <p:cNvSpPr/>
          <p:nvPr/>
        </p:nvSpPr>
        <p:spPr>
          <a:xfrm>
            <a:off x="1709928" y="1481328"/>
            <a:ext cx="8778240" cy="4937760"/>
          </a:xfrm>
          <a:prstGeom prst="rect">
            <a:avLst/>
          </a:prstGeom>
          <a:solidFill>
            <a:srgbClr val="FFFFFF">
              <a:alpha val="0"/>
            </a:srgbClr>
          </a:solidFill>
          <a:ln w="12700">
            <a:solidFill>
              <a:srgbClr val="D8D6D3"/>
            </a:solidFill>
            <a:prstDash val="solid"/>
          </a:ln>
        </p:spPr>
      </p:sp>
      <p:sp>
        <p:nvSpPr>
          <p:cNvPr id="7" name="Text 3"/>
          <p:cNvSpPr/>
          <p:nvPr/>
        </p:nvSpPr>
        <p:spPr>
          <a:xfrm>
            <a:off x="1709928" y="6473952"/>
            <a:ext cx="8778240" cy="301752"/>
          </a:xfrm>
          <a:prstGeom prst="rect">
            <a:avLst/>
          </a:prstGeom>
          <a:noFill/>
          <a:ln/>
        </p:spPr>
        <p:txBody>
          <a:bodyPr wrap="square" lIns="0" tIns="0" rIns="0" bIns="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All e-mails about a case are attached — including pre-instruction e-mails such as triage — matched on registration, client name and provider reference. Each case also has a notes section anyone can add to.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ADDITIONAL HELPERS</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Vision model helpers</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Text 2"/>
          <p:cNvSpPr/>
          <p:nvPr/>
        </p:nvSpPr>
        <p:spPr>
          <a:xfrm>
            <a:off x="548640" y="1783080"/>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6" name="Text 3"/>
          <p:cNvSpPr/>
          <p:nvPr/>
        </p:nvSpPr>
        <p:spPr>
          <a:xfrm>
            <a:off x="1024128" y="1746504"/>
            <a:ext cx="4206240" cy="384048"/>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Reflections flagged</a:t>
            </a:r>
            <a:endParaRPr lang="en-US" sz="1550" dirty="0"/>
          </a:p>
        </p:txBody>
      </p:sp>
      <p:sp>
        <p:nvSpPr>
          <p:cNvPr id="7" name="Text 4"/>
          <p:cNvSpPr/>
          <p:nvPr/>
        </p:nvSpPr>
        <p:spPr>
          <a:xfrm>
            <a:off x="1024128" y="2148840"/>
            <a:ext cx="4206240" cy="10515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Any vehicle image that shows a reflection is flagged.</a:t>
            </a:r>
            <a:endParaRPr lang="en-US" sz="1200" dirty="0"/>
          </a:p>
        </p:txBody>
      </p:sp>
      <p:sp>
        <p:nvSpPr>
          <p:cNvPr id="8" name="Text 5"/>
          <p:cNvSpPr/>
          <p:nvPr/>
        </p:nvSpPr>
        <p:spPr>
          <a:xfrm>
            <a:off x="548640" y="3264408"/>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9" name="Text 6"/>
          <p:cNvSpPr/>
          <p:nvPr/>
        </p:nvSpPr>
        <p:spPr>
          <a:xfrm>
            <a:off x="1024128" y="3227832"/>
            <a:ext cx="4206240" cy="384048"/>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Image roles identified</a:t>
            </a:r>
            <a:endParaRPr lang="en-US" sz="1550" dirty="0"/>
          </a:p>
        </p:txBody>
      </p:sp>
      <p:sp>
        <p:nvSpPr>
          <p:cNvPr id="10" name="Text 7"/>
          <p:cNvSpPr/>
          <p:nvPr/>
        </p:nvSpPr>
        <p:spPr>
          <a:xfrm>
            <a:off x="1024128" y="3630168"/>
            <a:ext cx="4206240" cy="10515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It identifies images that are a good overview with a registration, and highlights the images that show the damage.</a:t>
            </a:r>
            <a:endParaRPr lang="en-US" sz="1200" dirty="0"/>
          </a:p>
        </p:txBody>
      </p:sp>
      <p:sp>
        <p:nvSpPr>
          <p:cNvPr id="11" name="Text 8"/>
          <p:cNvSpPr/>
          <p:nvPr/>
        </p:nvSpPr>
        <p:spPr>
          <a:xfrm>
            <a:off x="548640" y="4745736"/>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2" name="Text 9"/>
          <p:cNvSpPr/>
          <p:nvPr/>
        </p:nvSpPr>
        <p:spPr>
          <a:xfrm>
            <a:off x="1024128" y="4709160"/>
            <a:ext cx="4206240" cy="384048"/>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Odometer reading</a:t>
            </a:r>
            <a:endParaRPr lang="en-US" sz="1550" dirty="0"/>
          </a:p>
        </p:txBody>
      </p:sp>
      <p:sp>
        <p:nvSpPr>
          <p:cNvPr id="13" name="Text 10"/>
          <p:cNvSpPr/>
          <p:nvPr/>
        </p:nvSpPr>
        <p:spPr>
          <a:xfrm>
            <a:off x="1024128" y="5111496"/>
            <a:ext cx="4206240" cy="10515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If the instructions don’t provide a mileage but an image shows the odometer, it attempts to read it. A DVSA lookup estimates the mileage as a cross-check for misreads, and a person still reviews it. With no odometer and nothing in the instructions, the DVSA lookup is the third fallback.</a:t>
            </a:r>
            <a:endParaRPr lang="en-US" sz="1200" dirty="0"/>
          </a:p>
        </p:txBody>
      </p:sp>
      <p:pic>
        <p:nvPicPr>
          <p:cNvPr id="14" name="Image 1" descr="deck_assets/photo_auto_detect.png">    </p:cNvPr>
          <p:cNvPicPr>
            <a:picLocks noChangeAspect="1"/>
          </p:cNvPicPr>
          <p:nvPr/>
        </p:nvPicPr>
        <p:blipFill>
          <a:blip r:embed="rId2"/>
          <a:stretch>
            <a:fillRect/>
          </a:stretch>
        </p:blipFill>
        <p:spPr>
          <a:xfrm>
            <a:off x="5715000" y="1691640"/>
            <a:ext cx="4434840" cy="3941064"/>
          </a:xfrm>
          <a:prstGeom prst="rect">
            <a:avLst/>
          </a:prstGeom>
        </p:spPr>
      </p:pic>
      <p:sp>
        <p:nvSpPr>
          <p:cNvPr id="15" name="Shape 11"/>
          <p:cNvSpPr/>
          <p:nvPr/>
        </p:nvSpPr>
        <p:spPr>
          <a:xfrm>
            <a:off x="5715000" y="1691640"/>
            <a:ext cx="4434840" cy="3941064"/>
          </a:xfrm>
          <a:prstGeom prst="rect">
            <a:avLst/>
          </a:prstGeom>
          <a:solidFill>
            <a:srgbClr val="FFFFFF">
              <a:alpha val="0"/>
            </a:srgbClr>
          </a:solidFill>
          <a:ln w="12700">
            <a:solidFill>
              <a:srgbClr val="D8D6D3"/>
            </a:solidFill>
            <a:prstDash val="solid"/>
          </a:ln>
        </p:spPr>
      </p:sp>
      <p:pic>
        <p:nvPicPr>
          <p:cNvPr id="16" name="Image 2" descr="deck_assets/reflection_demo.png">    </p:cNvPr>
          <p:cNvPicPr>
            <a:picLocks noChangeAspect="1"/>
          </p:cNvPicPr>
          <p:nvPr/>
        </p:nvPicPr>
        <p:blipFill>
          <a:blip r:embed="rId3"/>
          <a:stretch>
            <a:fillRect/>
          </a:stretch>
        </p:blipFill>
        <p:spPr>
          <a:xfrm>
            <a:off x="10287000" y="1691640"/>
            <a:ext cx="1481328" cy="2304288"/>
          </a:xfrm>
          <a:prstGeom prst="rect">
            <a:avLst/>
          </a:prstGeom>
        </p:spPr>
      </p:pic>
      <p:sp>
        <p:nvSpPr>
          <p:cNvPr id="17" name="Shape 12"/>
          <p:cNvSpPr/>
          <p:nvPr/>
        </p:nvSpPr>
        <p:spPr>
          <a:xfrm>
            <a:off x="10287000" y="1691640"/>
            <a:ext cx="1481328" cy="2304288"/>
          </a:xfrm>
          <a:prstGeom prst="rect">
            <a:avLst/>
          </a:prstGeom>
          <a:solidFill>
            <a:srgbClr val="FFFFFF">
              <a:alpha val="0"/>
            </a:srgbClr>
          </a:solidFill>
          <a:ln w="12700">
            <a:solidFill>
              <a:srgbClr val="D8D6D3"/>
            </a:solidFill>
            <a:prstDash val="solid"/>
          </a:ln>
        </p:spPr>
      </p:sp>
      <p:sp>
        <p:nvSpPr>
          <p:cNvPr id="18" name="Text 13"/>
          <p:cNvSpPr/>
          <p:nvPr/>
        </p:nvSpPr>
        <p:spPr>
          <a:xfrm>
            <a:off x="5715000" y="5760720"/>
            <a:ext cx="6053328" cy="301752"/>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Image roles, registration visibility and EVA use pre-set; on the right, a reflection flagged for exclusion.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algn="l" indent="0" marL="0">
              <a:buNone/>
            </a:pPr>
            <a:r>
              <a:rPr lang="en-US" sz="1100" b="1" spc="300" kern="0" dirty="0">
                <a:solidFill>
                  <a:srgbClr val="C80A32"/>
                </a:solidFill>
                <a:latin typeface="Arial" pitchFamily="34" charset="0"/>
                <a:ea typeface="Arial" pitchFamily="34" charset="-122"/>
                <a:cs typeface="Arial" pitchFamily="34" charset="-120"/>
              </a:rPr>
              <a:t>TRACKING</a:t>
            </a:r>
            <a:endParaRPr lang="en-US" sz="11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algn="l" indent="0" marL="0">
              <a:buNone/>
            </a:pPr>
            <a:r>
              <a:rPr lang="en-US" sz="3200" b="1" dirty="0">
                <a:solidFill>
                  <a:srgbClr val="16191D"/>
                </a:solidFill>
                <a:latin typeface="Tw Cen MT" pitchFamily="34" charset="0"/>
                <a:ea typeface="Tw Cen MT" pitchFamily="34" charset="-122"/>
                <a:cs typeface="Tw Cen MT" pitchFamily="34" charset="-120"/>
              </a:rPr>
              <a:t>Beyond EVA submission</a:t>
            </a:r>
            <a:endParaRPr lang="en-US" sz="3200" dirty="0"/>
          </a:p>
        </p:txBody>
      </p:sp>
      <p:pic>
        <p:nvPicPr>
          <p:cNvPr id="4" name="Image 0" descr="deck_assets/logo_red.png">    </p:cNvPr>
          <p:cNvPicPr>
            <a:picLocks noChangeAspect="1"/>
          </p:cNvPicPr>
          <p:nvPr/>
        </p:nvPicPr>
        <p:blipFill>
          <a:blip r:embed="rId1"/>
          <a:stretch>
            <a:fillRect/>
          </a:stretch>
        </p:blipFill>
        <p:spPr>
          <a:xfrm>
            <a:off x="11018520" y="347472"/>
            <a:ext cx="749808" cy="417881"/>
          </a:xfrm>
          <a:prstGeom prst="rect">
            <a:avLst/>
          </a:prstGeom>
        </p:spPr>
      </p:pic>
      <p:sp>
        <p:nvSpPr>
          <p:cNvPr id="5" name="Text 2"/>
          <p:cNvSpPr/>
          <p:nvPr/>
        </p:nvSpPr>
        <p:spPr>
          <a:xfrm>
            <a:off x="548640" y="1645920"/>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1</a:t>
            </a:r>
            <a:endParaRPr lang="en-US" sz="1400" dirty="0"/>
          </a:p>
        </p:txBody>
      </p:sp>
      <p:sp>
        <p:nvSpPr>
          <p:cNvPr id="6" name="Text 3"/>
          <p:cNvSpPr/>
          <p:nvPr/>
        </p:nvSpPr>
        <p:spPr>
          <a:xfrm>
            <a:off x="1024128" y="1609344"/>
            <a:ext cx="502920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Report tracking</a:t>
            </a:r>
            <a:endParaRPr lang="en-US" sz="1550" dirty="0"/>
          </a:p>
        </p:txBody>
      </p:sp>
      <p:sp>
        <p:nvSpPr>
          <p:cNvPr id="7" name="Text 4"/>
          <p:cNvSpPr/>
          <p:nvPr/>
        </p:nvSpPr>
        <p:spPr>
          <a:xfrm>
            <a:off x="1024128" y="1993392"/>
            <a:ext cx="5029200" cy="841248"/>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The system tracks if and when the report is sent afterwards and links it to the case — so a later query can be identified as belonging to an already completed case.</a:t>
            </a:r>
            <a:endParaRPr lang="en-US" sz="1200" dirty="0"/>
          </a:p>
        </p:txBody>
      </p:sp>
      <p:sp>
        <p:nvSpPr>
          <p:cNvPr id="8" name="Text 5"/>
          <p:cNvSpPr/>
          <p:nvPr/>
        </p:nvSpPr>
        <p:spPr>
          <a:xfrm>
            <a:off x="548640" y="2852928"/>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2</a:t>
            </a:r>
            <a:endParaRPr lang="en-US" sz="1400" dirty="0"/>
          </a:p>
        </p:txBody>
      </p:sp>
      <p:sp>
        <p:nvSpPr>
          <p:cNvPr id="9" name="Text 6"/>
          <p:cNvSpPr/>
          <p:nvPr/>
        </p:nvSpPr>
        <p:spPr>
          <a:xfrm>
            <a:off x="1024128" y="2816352"/>
            <a:ext cx="502920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Retroactive cases</a:t>
            </a:r>
            <a:endParaRPr lang="en-US" sz="1550" dirty="0"/>
          </a:p>
        </p:txBody>
      </p:sp>
      <p:sp>
        <p:nvSpPr>
          <p:cNvPr id="10" name="Text 7"/>
          <p:cNvSpPr/>
          <p:nvPr/>
        </p:nvSpPr>
        <p:spPr>
          <a:xfrm>
            <a:off x="1024128" y="3200400"/>
            <a:ext cx="5029200" cy="841248"/>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 separate function reconstructs cases by examining Outlook and Box. If a provider asks about a job from four months ago, it will appear on the app with whatever information is available.</a:t>
            </a:r>
            <a:endParaRPr lang="en-US" sz="1200" dirty="0"/>
          </a:p>
        </p:txBody>
      </p:sp>
      <p:sp>
        <p:nvSpPr>
          <p:cNvPr id="11" name="Text 8"/>
          <p:cNvSpPr/>
          <p:nvPr/>
        </p:nvSpPr>
        <p:spPr>
          <a:xfrm>
            <a:off x="548640" y="4059936"/>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3</a:t>
            </a:r>
            <a:endParaRPr lang="en-US" sz="1400" dirty="0"/>
          </a:p>
        </p:txBody>
      </p:sp>
      <p:sp>
        <p:nvSpPr>
          <p:cNvPr id="12" name="Text 9"/>
          <p:cNvSpPr/>
          <p:nvPr/>
        </p:nvSpPr>
        <p:spPr>
          <a:xfrm>
            <a:off x="1024128" y="4023360"/>
            <a:ext cx="502920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Provider database</a:t>
            </a:r>
            <a:endParaRPr lang="en-US" sz="1550" dirty="0"/>
          </a:p>
        </p:txBody>
      </p:sp>
      <p:sp>
        <p:nvSpPr>
          <p:cNvPr id="13" name="Text 10"/>
          <p:cNvSpPr/>
          <p:nvPr/>
        </p:nvSpPr>
        <p:spPr>
          <a:xfrm>
            <a:off x="1024128" y="4407408"/>
            <a:ext cx="5029200" cy="841248"/>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All work providers with their e-mail domains, intermediaries/CMCs and repairers, plus provider-specific processes — e.g. image-based assessment prefilled where that’s always the case.</a:t>
            </a:r>
            <a:endParaRPr lang="en-US" sz="1200" dirty="0"/>
          </a:p>
        </p:txBody>
      </p:sp>
      <p:sp>
        <p:nvSpPr>
          <p:cNvPr id="14" name="Text 11"/>
          <p:cNvSpPr/>
          <p:nvPr/>
        </p:nvSpPr>
        <p:spPr>
          <a:xfrm>
            <a:off x="548640" y="5266944"/>
            <a:ext cx="310896" cy="310896"/>
          </a:xfrm>
          <a:prstGeom prst="ellipse">
            <a:avLst/>
          </a:prstGeom>
          <a:solidFill>
            <a:srgbClr val="C80A32"/>
          </a:solidFill>
          <a:ln/>
        </p:spPr>
        <p:txBody>
          <a:bodyPr wrap="square" lIns="0" tIns="0" rIns="0" bIns="0" rtlCol="0" anchor="ctr"/>
          <a:lstStyle/>
          <a:p>
            <a:pPr algn="ctr" indent="0" marL="0">
              <a:buNone/>
            </a:pPr>
            <a:r>
              <a:rPr lang="en-US" sz="1400" b="1" dirty="0">
                <a:solidFill>
                  <a:srgbClr val="FFFFFF"/>
                </a:solidFill>
                <a:latin typeface="Tw Cen MT" pitchFamily="34" charset="0"/>
                <a:ea typeface="Tw Cen MT" pitchFamily="34" charset="-122"/>
                <a:cs typeface="Tw Cen MT" pitchFamily="34" charset="-120"/>
              </a:rPr>
              <a:t>4</a:t>
            </a:r>
            <a:endParaRPr lang="en-US" sz="1400" dirty="0"/>
          </a:p>
        </p:txBody>
      </p:sp>
      <p:sp>
        <p:nvSpPr>
          <p:cNvPr id="15" name="Text 12"/>
          <p:cNvSpPr/>
          <p:nvPr/>
        </p:nvSpPr>
        <p:spPr>
          <a:xfrm>
            <a:off x="1024128" y="5230368"/>
            <a:ext cx="5029200" cy="365760"/>
          </a:xfrm>
          <a:prstGeom prst="rect">
            <a:avLst/>
          </a:prstGeom>
          <a:noFill/>
          <a:ln/>
        </p:spPr>
        <p:txBody>
          <a:bodyPr wrap="square" lIns="0" tIns="0" rIns="0" bIns="0" rtlCol="0" anchor="t"/>
          <a:lstStyle/>
          <a:p>
            <a:pPr indent="0" marL="0">
              <a:buNone/>
            </a:pPr>
            <a:r>
              <a:rPr lang="en-US" sz="1550" b="1" dirty="0">
                <a:solidFill>
                  <a:srgbClr val="16191D"/>
                </a:solidFill>
                <a:latin typeface="Tw Cen MT" pitchFamily="34" charset="0"/>
                <a:ea typeface="Tw Cen MT" pitchFamily="34" charset="-122"/>
                <a:cs typeface="Tw Cen MT" pitchFamily="34" charset="-120"/>
              </a:rPr>
              <a:t>Inspection addresses</a:t>
            </a:r>
            <a:endParaRPr lang="en-US" sz="1550" dirty="0"/>
          </a:p>
        </p:txBody>
      </p:sp>
      <p:sp>
        <p:nvSpPr>
          <p:cNvPr id="16" name="Text 13"/>
          <p:cNvSpPr/>
          <p:nvPr/>
        </p:nvSpPr>
        <p:spPr>
          <a:xfrm>
            <a:off x="1024128" y="5614416"/>
            <a:ext cx="5029200" cy="841248"/>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Arial" pitchFamily="34" charset="0"/>
                <a:ea typeface="Arial" pitchFamily="34" charset="-122"/>
                <a:cs typeface="Arial" pitchFamily="34" charset="-120"/>
              </a:rPr>
              <a:t>Addresses used more than a handful of times in the last two years are stored, and a function suggests the likely inspection address. Still being sharpened.</a:t>
            </a:r>
            <a:endParaRPr lang="en-US" sz="1200" dirty="0"/>
          </a:p>
        </p:txBody>
      </p:sp>
      <p:pic>
        <p:nvPicPr>
          <p:cNvPr id="17" name="Image 1" descr="deck_assets/action_logs.png">    </p:cNvPr>
          <p:cNvPicPr>
            <a:picLocks noChangeAspect="1"/>
          </p:cNvPicPr>
          <p:nvPr/>
        </p:nvPicPr>
        <p:blipFill>
          <a:blip r:embed="rId2"/>
          <a:stretch>
            <a:fillRect/>
          </a:stretch>
        </p:blipFill>
        <p:spPr>
          <a:xfrm>
            <a:off x="6720840" y="2011680"/>
            <a:ext cx="4892040" cy="2752344"/>
          </a:xfrm>
          <a:prstGeom prst="rect">
            <a:avLst/>
          </a:prstGeom>
        </p:spPr>
      </p:pic>
      <p:sp>
        <p:nvSpPr>
          <p:cNvPr id="18" name="Shape 14"/>
          <p:cNvSpPr/>
          <p:nvPr/>
        </p:nvSpPr>
        <p:spPr>
          <a:xfrm>
            <a:off x="6720840" y="2011680"/>
            <a:ext cx="4892040" cy="2752344"/>
          </a:xfrm>
          <a:prstGeom prst="rect">
            <a:avLst/>
          </a:prstGeom>
          <a:solidFill>
            <a:srgbClr val="FFFFFF">
              <a:alpha val="0"/>
            </a:srgbClr>
          </a:solidFill>
          <a:ln w="12700">
            <a:solidFill>
              <a:srgbClr val="D8D6D3"/>
            </a:solidFill>
            <a:prstDash val="solid"/>
          </a:ln>
        </p:spPr>
      </p:sp>
      <p:sp>
        <p:nvSpPr>
          <p:cNvPr id="19" name="Text 15"/>
          <p:cNvSpPr/>
          <p:nvPr/>
        </p:nvSpPr>
        <p:spPr>
          <a:xfrm>
            <a:off x="6720840" y="4892040"/>
            <a:ext cx="4892040" cy="301752"/>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The action log — every automated action is recorded, newest first.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2A27"/>
        </a:solidFill>
      </p:bgPr>
    </p:bg>
    <p:spTree>
      <p:nvGrpSpPr>
        <p:cNvPr id="1" name=""/>
        <p:cNvGrpSpPr/>
        <p:nvPr/>
      </p:nvGrpSpPr>
      <p:grpSpPr>
        <a:xfrm>
          <a:off x="0" y="0"/>
          <a:ext cx="0" cy="0"/>
          <a:chOff x="0" y="0"/>
          <a:chExt cx="0" cy="0"/>
        </a:xfrm>
      </p:grpSpPr>
      <p:pic>
        <p:nvPicPr>
          <p:cNvPr id="2" name="Image 0" descr="deck_assets/logo_white.png">    </p:cNvPr>
          <p:cNvPicPr>
            <a:picLocks noChangeAspect="1"/>
          </p:cNvPicPr>
          <p:nvPr/>
        </p:nvPicPr>
        <p:blipFill>
          <a:blip r:embed="rId1"/>
          <a:stretch>
            <a:fillRect/>
          </a:stretch>
        </p:blipFill>
        <p:spPr>
          <a:xfrm>
            <a:off x="548640" y="502920"/>
            <a:ext cx="1389888" cy="777240"/>
          </a:xfrm>
          <a:prstGeom prst="rect">
            <a:avLst/>
          </a:prstGeom>
        </p:spPr>
      </p:pic>
      <p:sp>
        <p:nvSpPr>
          <p:cNvPr id="3" name="Text 0"/>
          <p:cNvSpPr/>
          <p:nvPr/>
        </p:nvSpPr>
        <p:spPr>
          <a:xfrm>
            <a:off x="548640" y="182880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Tw Cen MT" pitchFamily="34" charset="0"/>
                <a:ea typeface="Tw Cen MT" pitchFamily="34" charset="-122"/>
                <a:cs typeface="Tw Cen MT" pitchFamily="34" charset="-120"/>
              </a:rPr>
              <a:t>Where it stands</a:t>
            </a:r>
            <a:endParaRPr lang="en-US" sz="4000" dirty="0"/>
          </a:p>
        </p:txBody>
      </p:sp>
      <p:sp>
        <p:nvSpPr>
          <p:cNvPr id="4" name="Text 1"/>
          <p:cNvSpPr/>
          <p:nvPr/>
        </p:nvSpPr>
        <p:spPr>
          <a:xfrm>
            <a:off x="548640" y="3063240"/>
            <a:ext cx="3474720" cy="320040"/>
          </a:xfrm>
          <a:prstGeom prst="rect">
            <a:avLst/>
          </a:prstGeom>
          <a:noFill/>
          <a:ln/>
        </p:spPr>
        <p:txBody>
          <a:bodyPr wrap="square" lIns="0" tIns="0" rIns="0" bIns="0" rtlCol="0" anchor="ctr"/>
          <a:lstStyle/>
          <a:p>
            <a:pPr indent="0" marL="0">
              <a:buNone/>
            </a:pPr>
            <a:r>
              <a:rPr lang="en-US" sz="1200" b="1" spc="250" kern="0" dirty="0">
                <a:solidFill>
                  <a:srgbClr val="E8556D"/>
                </a:solidFill>
                <a:latin typeface="Arial" pitchFamily="34" charset="0"/>
                <a:ea typeface="Arial" pitchFamily="34" charset="-122"/>
                <a:cs typeface="Arial" pitchFamily="34" charset="-120"/>
              </a:rPr>
              <a:t>STATUS</a:t>
            </a:r>
            <a:endParaRPr lang="en-US" sz="1200" dirty="0"/>
          </a:p>
        </p:txBody>
      </p:sp>
      <p:sp>
        <p:nvSpPr>
          <p:cNvPr id="5" name="Text 2"/>
          <p:cNvSpPr/>
          <p:nvPr/>
        </p:nvSpPr>
        <p:spPr>
          <a:xfrm>
            <a:off x="548640" y="3456432"/>
            <a:ext cx="3474720" cy="1645920"/>
          </a:xfrm>
          <a:prstGeom prst="rect">
            <a:avLst/>
          </a:prstGeom>
          <a:noFill/>
          <a:ln/>
        </p:spPr>
        <p:txBody>
          <a:bodyPr wrap="square" lIns="0" tIns="0" rIns="0" bIns="0" rtlCol="0" anchor="t"/>
          <a:lstStyle/>
          <a:p>
            <a:pPr indent="0" marL="0">
              <a:lnSpc>
                <a:spcPct val="135000"/>
              </a:lnSpc>
              <a:buNone/>
            </a:pPr>
            <a:r>
              <a:rPr lang="en-US" sz="1350" dirty="0">
                <a:solidFill>
                  <a:srgbClr val="D9D7D4"/>
                </a:solidFill>
                <a:latin typeface="Arial" pitchFamily="34" charset="0"/>
                <a:ea typeface="Arial" pitchFamily="34" charset="-122"/>
                <a:cs typeface="Arial" pitchFamily="34" charset="-120"/>
              </a:rPr>
              <a:t>Running on all three inboxes — classifying e-mails, extracting data, creating cases and filing to Box, with every action logged.</a:t>
            </a:r>
            <a:endParaRPr lang="en-US" sz="1350" dirty="0"/>
          </a:p>
        </p:txBody>
      </p:sp>
      <p:sp>
        <p:nvSpPr>
          <p:cNvPr id="6" name="Text 3"/>
          <p:cNvSpPr/>
          <p:nvPr/>
        </p:nvSpPr>
        <p:spPr>
          <a:xfrm>
            <a:off x="4343400" y="3063240"/>
            <a:ext cx="3474720" cy="320040"/>
          </a:xfrm>
          <a:prstGeom prst="rect">
            <a:avLst/>
          </a:prstGeom>
          <a:noFill/>
          <a:ln/>
        </p:spPr>
        <p:txBody>
          <a:bodyPr wrap="square" lIns="0" tIns="0" rIns="0" bIns="0" rtlCol="0" anchor="ctr"/>
          <a:lstStyle/>
          <a:p>
            <a:pPr indent="0" marL="0">
              <a:buNone/>
            </a:pPr>
            <a:r>
              <a:rPr lang="en-US" sz="1200" b="1" spc="250" kern="0" dirty="0">
                <a:solidFill>
                  <a:srgbClr val="E8556D"/>
                </a:solidFill>
                <a:latin typeface="Arial" pitchFamily="34" charset="0"/>
                <a:ea typeface="Arial" pitchFamily="34" charset="-122"/>
                <a:cs typeface="Arial" pitchFamily="34" charset="-120"/>
              </a:rPr>
              <a:t>APPROACH</a:t>
            </a:r>
            <a:endParaRPr lang="en-US" sz="1200" dirty="0"/>
          </a:p>
        </p:txBody>
      </p:sp>
      <p:sp>
        <p:nvSpPr>
          <p:cNvPr id="7" name="Text 4"/>
          <p:cNvSpPr/>
          <p:nvPr/>
        </p:nvSpPr>
        <p:spPr>
          <a:xfrm>
            <a:off x="4343400" y="3456432"/>
            <a:ext cx="3474720" cy="1645920"/>
          </a:xfrm>
          <a:prstGeom prst="rect">
            <a:avLst/>
          </a:prstGeom>
          <a:noFill/>
          <a:ln/>
        </p:spPr>
        <p:txBody>
          <a:bodyPr wrap="square" lIns="0" tIns="0" rIns="0" bIns="0" rtlCol="0" anchor="t"/>
          <a:lstStyle/>
          <a:p>
            <a:pPr indent="0" marL="0">
              <a:lnSpc>
                <a:spcPct val="135000"/>
              </a:lnSpc>
              <a:buNone/>
            </a:pPr>
            <a:r>
              <a:rPr lang="en-US" sz="1350" dirty="0">
                <a:solidFill>
                  <a:srgbClr val="D9D7D4"/>
                </a:solidFill>
                <a:latin typeface="Arial" pitchFamily="34" charset="0"/>
                <a:ea typeface="Arial" pitchFamily="34" charset="-122"/>
                <a:cs typeface="Arial" pitchFamily="34" charset="-120"/>
              </a:rPr>
              <a:t>Everything runs deterministically first, with zero AI usage. AI assists only below a confidence level, and its suggestions are reviewed by a person.</a:t>
            </a:r>
            <a:endParaRPr lang="en-US" sz="1350" dirty="0"/>
          </a:p>
        </p:txBody>
      </p:sp>
      <p:sp>
        <p:nvSpPr>
          <p:cNvPr id="8" name="Text 5"/>
          <p:cNvSpPr/>
          <p:nvPr/>
        </p:nvSpPr>
        <p:spPr>
          <a:xfrm>
            <a:off x="8138160" y="3063240"/>
            <a:ext cx="3474720" cy="320040"/>
          </a:xfrm>
          <a:prstGeom prst="rect">
            <a:avLst/>
          </a:prstGeom>
          <a:noFill/>
          <a:ln/>
        </p:spPr>
        <p:txBody>
          <a:bodyPr wrap="square" lIns="0" tIns="0" rIns="0" bIns="0" rtlCol="0" anchor="ctr"/>
          <a:lstStyle/>
          <a:p>
            <a:pPr indent="0" marL="0">
              <a:buNone/>
            </a:pPr>
            <a:r>
              <a:rPr lang="en-US" sz="1200" b="1" spc="250" kern="0" dirty="0">
                <a:solidFill>
                  <a:srgbClr val="E8556D"/>
                </a:solidFill>
                <a:latin typeface="Arial" pitchFamily="34" charset="0"/>
                <a:ea typeface="Arial" pitchFamily="34" charset="-122"/>
                <a:cs typeface="Arial" pitchFamily="34" charset="-120"/>
              </a:rPr>
              <a:t>NEXT</a:t>
            </a:r>
            <a:endParaRPr lang="en-US" sz="1200" dirty="0"/>
          </a:p>
        </p:txBody>
      </p:sp>
      <p:sp>
        <p:nvSpPr>
          <p:cNvPr id="9" name="Text 6"/>
          <p:cNvSpPr/>
          <p:nvPr/>
        </p:nvSpPr>
        <p:spPr>
          <a:xfrm>
            <a:off x="8138160" y="3456432"/>
            <a:ext cx="3474720" cy="1645920"/>
          </a:xfrm>
          <a:prstGeom prst="rect">
            <a:avLst/>
          </a:prstGeom>
          <a:noFill/>
          <a:ln/>
        </p:spPr>
        <p:txBody>
          <a:bodyPr wrap="square" lIns="0" tIns="0" rIns="0" bIns="0" rtlCol="0" anchor="t"/>
          <a:lstStyle/>
          <a:p>
            <a:pPr indent="0" marL="0">
              <a:lnSpc>
                <a:spcPct val="135000"/>
              </a:lnSpc>
              <a:buNone/>
            </a:pPr>
            <a:r>
              <a:rPr lang="en-US" sz="1350" dirty="0">
                <a:solidFill>
                  <a:srgbClr val="D9D7D4"/>
                </a:solidFill>
                <a:latin typeface="Arial" pitchFamily="34" charset="0"/>
                <a:ea typeface="Arial" pitchFamily="34" charset="-122"/>
                <a:cs typeface="Arial" pitchFamily="34" charset="-120"/>
              </a:rPr>
              <a:t>Direct EVA submission, integrating Tractable or Raven, and more ways of getting images onto cases automatically.</a:t>
            </a:r>
            <a:endParaRPr lang="en-US" sz="1350" dirty="0"/>
          </a:p>
        </p:txBody>
      </p:sp>
      <p:sp>
        <p:nvSpPr>
          <p:cNvPr id="10" name="Text 7"/>
          <p:cNvSpPr/>
          <p:nvPr/>
        </p:nvSpPr>
        <p:spPr>
          <a:xfrm>
            <a:off x="548640" y="5989320"/>
            <a:ext cx="8229600" cy="365760"/>
          </a:xfrm>
          <a:prstGeom prst="rect">
            <a:avLst/>
          </a:prstGeom>
          <a:noFill/>
          <a:ln/>
        </p:spPr>
        <p:txBody>
          <a:bodyPr wrap="square" lIns="0" tIns="0" rIns="0" bIns="0" rtlCol="0" anchor="ctr"/>
          <a:lstStyle/>
          <a:p>
            <a:pPr indent="0" marL="0">
              <a:buNone/>
            </a:pPr>
            <a:r>
              <a:rPr lang="en-US" sz="1400" dirty="0">
                <a:solidFill>
                  <a:srgbClr val="9C9A96"/>
                </a:solidFill>
                <a:latin typeface="Arial" pitchFamily="34" charset="0"/>
                <a:ea typeface="Arial" pitchFamily="34" charset="-122"/>
                <a:cs typeface="Arial" pitchFamily="34" charset="-120"/>
              </a:rPr>
              <a:t>Happy to walk through the app live.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2026-07-13T17:52:11Z</dcterms:created>
  <dcterms:modified xsi:type="dcterms:W3CDTF">2026-07-13T17:52:11Z</dcterms:modified>
</cp:coreProperties>
</file>